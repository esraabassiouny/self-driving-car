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Open Sans" panose="020B0606030504020204" pitchFamily="34" charset="0"/>
      <p:regular r:id="rId27"/>
    </p:embeddedFont>
    <p:embeddedFont>
      <p:font typeface="Open Sans Bold" panose="020B0806030504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1" d="100"/>
          <a:sy n="31" d="100"/>
        </p:scale>
        <p:origin x="1042"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4.svg"/><Relationship Id="rId7"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2.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8.jpeg"/><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29.jpeg"/></Relationships>
</file>

<file path=ppt/slides/_rels/slide19.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4.svg"/><Relationship Id="rId7" Type="http://schemas.openxmlformats.org/officeDocument/2006/relationships/image" Target="../media/image34.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jpe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9.jpeg"/><Relationship Id="rId4" Type="http://schemas.openxmlformats.org/officeDocument/2006/relationships/image" Target="../media/image38.jpe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0.jpeg"/></Relationships>
</file>

<file path=ppt/slides/_rels/slide2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arxiv.org/pdf/1712.08644"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46"/>
            </a:stretch>
          </a:blipFill>
        </p:spPr>
      </p:sp>
      <p:grpSp>
        <p:nvGrpSpPr>
          <p:cNvPr id="3" name="Group 3"/>
          <p:cNvGrpSpPr/>
          <p:nvPr/>
        </p:nvGrpSpPr>
        <p:grpSpPr>
          <a:xfrm>
            <a:off x="409918" y="323061"/>
            <a:ext cx="2116729" cy="2116729"/>
            <a:chOff x="0" y="0"/>
            <a:chExt cx="13716000" cy="13716000"/>
          </a:xfrm>
        </p:grpSpPr>
        <p:sp>
          <p:nvSpPr>
            <p:cNvPr id="4" name="Freeform 4"/>
            <p:cNvSpPr/>
            <p:nvPr/>
          </p:nvSpPr>
          <p:spPr>
            <a:xfrm>
              <a:off x="0" y="0"/>
              <a:ext cx="13716000" cy="13716000"/>
            </a:xfrm>
            <a:custGeom>
              <a:avLst/>
              <a:gdLst/>
              <a:ahLst/>
              <a:cxnLst/>
              <a:rect l="l" t="t" r="r" b="b"/>
              <a:pathLst>
                <a:path w="13716000" h="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3"/>
              <a:stretch>
                <a:fillRect l="-2092" r="-2092"/>
              </a:stretch>
            </a:blipFill>
          </p:spPr>
        </p:sp>
      </p:grpSp>
      <p:grpSp>
        <p:nvGrpSpPr>
          <p:cNvPr id="5" name="Group 5"/>
          <p:cNvGrpSpPr/>
          <p:nvPr/>
        </p:nvGrpSpPr>
        <p:grpSpPr>
          <a:xfrm>
            <a:off x="1655788" y="8277713"/>
            <a:ext cx="14976425" cy="1589375"/>
            <a:chOff x="0" y="0"/>
            <a:chExt cx="3944408" cy="418601"/>
          </a:xfrm>
        </p:grpSpPr>
        <p:sp>
          <p:nvSpPr>
            <p:cNvPr id="6" name="Freeform 6"/>
            <p:cNvSpPr/>
            <p:nvPr/>
          </p:nvSpPr>
          <p:spPr>
            <a:xfrm>
              <a:off x="0" y="0"/>
              <a:ext cx="3944408" cy="418601"/>
            </a:xfrm>
            <a:custGeom>
              <a:avLst/>
              <a:gdLst/>
              <a:ahLst/>
              <a:cxnLst/>
              <a:rect l="l" t="t" r="r" b="b"/>
              <a:pathLst>
                <a:path w="3944408" h="418601">
                  <a:moveTo>
                    <a:pt x="39287" y="0"/>
                  </a:moveTo>
                  <a:lnTo>
                    <a:pt x="3905121" y="0"/>
                  </a:lnTo>
                  <a:cubicBezTo>
                    <a:pt x="3915540" y="0"/>
                    <a:pt x="3925533" y="4139"/>
                    <a:pt x="3932901" y="11507"/>
                  </a:cubicBezTo>
                  <a:cubicBezTo>
                    <a:pt x="3940269" y="18875"/>
                    <a:pt x="3944408" y="28868"/>
                    <a:pt x="3944408" y="39287"/>
                  </a:cubicBezTo>
                  <a:lnTo>
                    <a:pt x="3944408" y="379313"/>
                  </a:lnTo>
                  <a:cubicBezTo>
                    <a:pt x="3944408" y="389733"/>
                    <a:pt x="3940269" y="399726"/>
                    <a:pt x="3932901" y="407094"/>
                  </a:cubicBezTo>
                  <a:cubicBezTo>
                    <a:pt x="3925533" y="414462"/>
                    <a:pt x="3915540" y="418601"/>
                    <a:pt x="3905121" y="418601"/>
                  </a:cubicBezTo>
                  <a:lnTo>
                    <a:pt x="39287" y="418601"/>
                  </a:lnTo>
                  <a:cubicBezTo>
                    <a:pt x="28868" y="418601"/>
                    <a:pt x="18875" y="414462"/>
                    <a:pt x="11507" y="407094"/>
                  </a:cubicBezTo>
                  <a:cubicBezTo>
                    <a:pt x="4139" y="399726"/>
                    <a:pt x="0" y="389733"/>
                    <a:pt x="0" y="379313"/>
                  </a:cubicBezTo>
                  <a:lnTo>
                    <a:pt x="0" y="39287"/>
                  </a:lnTo>
                  <a:cubicBezTo>
                    <a:pt x="0" y="28868"/>
                    <a:pt x="4139" y="18875"/>
                    <a:pt x="11507" y="11507"/>
                  </a:cubicBezTo>
                  <a:cubicBezTo>
                    <a:pt x="18875" y="4139"/>
                    <a:pt x="28868" y="0"/>
                    <a:pt x="39287" y="0"/>
                  </a:cubicBezTo>
                  <a:close/>
                </a:path>
              </a:pathLst>
            </a:custGeom>
            <a:gradFill rotWithShape="1">
              <a:gsLst>
                <a:gs pos="0">
                  <a:srgbClr val="000000">
                    <a:alpha val="100000"/>
                  </a:srgbClr>
                </a:gs>
                <a:gs pos="100000">
                  <a:srgbClr val="3432C7">
                    <a:alpha val="100000"/>
                  </a:srgbClr>
                </a:gs>
              </a:gsLst>
              <a:lin ang="16200000"/>
            </a:gradFill>
            <a:ln cap="rnd">
              <a:noFill/>
              <a:prstDash val="solid"/>
              <a:round/>
            </a:ln>
          </p:spPr>
        </p:sp>
        <p:sp>
          <p:nvSpPr>
            <p:cNvPr id="7" name="TextBox 7"/>
            <p:cNvSpPr txBox="1"/>
            <p:nvPr/>
          </p:nvSpPr>
          <p:spPr>
            <a:xfrm>
              <a:off x="0" y="-28575"/>
              <a:ext cx="3944408" cy="447176"/>
            </a:xfrm>
            <a:prstGeom prst="rect">
              <a:avLst/>
            </a:prstGeom>
          </p:spPr>
          <p:txBody>
            <a:bodyPr lIns="50800" tIns="50800" rIns="50800" bIns="50800" rtlCol="0" anchor="ctr"/>
            <a:lstStyle/>
            <a:p>
              <a:pPr marL="0" lvl="0" indent="0" algn="ctr">
                <a:lnSpc>
                  <a:spcPts val="4514"/>
                </a:lnSpc>
              </a:pPr>
              <a:r>
                <a:rPr lang="en-US" sz="3472" b="1">
                  <a:solidFill>
                    <a:srgbClr val="FFFFFF"/>
                  </a:solidFill>
                  <a:latin typeface="Open Sans Bold"/>
                  <a:ea typeface="Open Sans Bold"/>
                  <a:cs typeface="Open Sans Bold"/>
                  <a:sym typeface="Open Sans Bold"/>
                </a:rPr>
                <a:t>Vision-Based Obstacle Detection and Avoidance System for an Autonomous Car</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2515703" y="-431368"/>
            <a:ext cx="17248474" cy="7086248"/>
          </a:xfrm>
          <a:custGeom>
            <a:avLst/>
            <a:gdLst/>
            <a:ahLst/>
            <a:cxnLst/>
            <a:rect l="l" t="t" r="r" b="b"/>
            <a:pathLst>
              <a:path w="17248474" h="7086248">
                <a:moveTo>
                  <a:pt x="17248473" y="7086248"/>
                </a:moveTo>
                <a:lnTo>
                  <a:pt x="0" y="7086248"/>
                </a:lnTo>
                <a:lnTo>
                  <a:pt x="0" y="0"/>
                </a:lnTo>
                <a:lnTo>
                  <a:pt x="17248473" y="0"/>
                </a:lnTo>
                <a:lnTo>
                  <a:pt x="17248473" y="708624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02069" y="1532375"/>
            <a:ext cx="8541931" cy="694569"/>
          </a:xfrm>
          <a:prstGeom prst="rect">
            <a:avLst/>
          </a:prstGeom>
        </p:spPr>
        <p:txBody>
          <a:bodyPr lIns="0" tIns="0" rIns="0" bIns="0" rtlCol="0" anchor="t">
            <a:spAutoFit/>
          </a:bodyPr>
          <a:lstStyle/>
          <a:p>
            <a:pPr marL="0" lvl="0" indent="0" algn="just">
              <a:lnSpc>
                <a:spcPts val="5220"/>
              </a:lnSpc>
              <a:spcBef>
                <a:spcPct val="0"/>
              </a:spcBef>
            </a:pPr>
            <a:r>
              <a:rPr lang="en-US" sz="5220" b="1" spc="-5">
                <a:solidFill>
                  <a:srgbClr val="FFFFFF"/>
                </a:solidFill>
                <a:latin typeface="Open Sans Bold"/>
                <a:ea typeface="Open Sans Bold"/>
                <a:cs typeface="Open Sans Bold"/>
                <a:sym typeface="Open Sans Bold"/>
              </a:rPr>
              <a:t>UNDER SUPERVISION OF :</a:t>
            </a:r>
          </a:p>
        </p:txBody>
      </p:sp>
      <p:sp>
        <p:nvSpPr>
          <p:cNvPr id="4" name="TextBox 4"/>
          <p:cNvSpPr txBox="1"/>
          <p:nvPr/>
        </p:nvSpPr>
        <p:spPr>
          <a:xfrm>
            <a:off x="735921" y="2370585"/>
            <a:ext cx="8274227" cy="2105027"/>
          </a:xfrm>
          <a:prstGeom prst="rect">
            <a:avLst/>
          </a:prstGeom>
        </p:spPr>
        <p:txBody>
          <a:bodyPr lIns="0" tIns="0" rIns="0" bIns="0" rtlCol="0" anchor="t">
            <a:spAutoFit/>
          </a:bodyPr>
          <a:lstStyle/>
          <a:p>
            <a:pPr marL="734053" lvl="1" indent="-367026" algn="just">
              <a:lnSpc>
                <a:spcPts val="6119"/>
              </a:lnSpc>
              <a:buFont typeface="Arial"/>
              <a:buChar char="•"/>
            </a:pPr>
            <a:r>
              <a:rPr lang="en-US" sz="3399" spc="16">
                <a:solidFill>
                  <a:srgbClr val="FFFFFF"/>
                </a:solidFill>
                <a:latin typeface="Open Sans"/>
                <a:ea typeface="Open Sans"/>
                <a:cs typeface="Open Sans"/>
                <a:sym typeface="Open Sans"/>
              </a:rPr>
              <a:t>Dr/ Manal Tantawi</a:t>
            </a:r>
          </a:p>
          <a:p>
            <a:pPr marL="734053" lvl="1" indent="-367026" algn="just">
              <a:lnSpc>
                <a:spcPts val="6119"/>
              </a:lnSpc>
              <a:buFont typeface="Arial"/>
              <a:buChar char="•"/>
            </a:pPr>
            <a:r>
              <a:rPr lang="en-US" sz="3399" spc="16">
                <a:solidFill>
                  <a:srgbClr val="FFFFFF"/>
                </a:solidFill>
                <a:latin typeface="Open Sans"/>
                <a:ea typeface="Open Sans"/>
                <a:cs typeface="Open Sans"/>
                <a:sym typeface="Open Sans"/>
              </a:rPr>
              <a:t>TA/Aya Nasser</a:t>
            </a:r>
          </a:p>
          <a:p>
            <a:pPr algn="just">
              <a:lnSpc>
                <a:spcPts val="4679"/>
              </a:lnSpc>
            </a:pPr>
            <a:endParaRPr lang="en-US" sz="3399" spc="16">
              <a:solidFill>
                <a:srgbClr val="FFFFFF"/>
              </a:solidFill>
              <a:latin typeface="Open Sans"/>
              <a:ea typeface="Open Sans"/>
              <a:cs typeface="Open Sans"/>
              <a:sym typeface="Open Sans"/>
            </a:endParaRPr>
          </a:p>
        </p:txBody>
      </p:sp>
      <p:sp>
        <p:nvSpPr>
          <p:cNvPr id="5" name="TextBox 5"/>
          <p:cNvSpPr txBox="1"/>
          <p:nvPr/>
        </p:nvSpPr>
        <p:spPr>
          <a:xfrm>
            <a:off x="602069" y="4570861"/>
            <a:ext cx="6299238" cy="694569"/>
          </a:xfrm>
          <a:prstGeom prst="rect">
            <a:avLst/>
          </a:prstGeom>
        </p:spPr>
        <p:txBody>
          <a:bodyPr lIns="0" tIns="0" rIns="0" bIns="0" rtlCol="0" anchor="t">
            <a:spAutoFit/>
          </a:bodyPr>
          <a:lstStyle/>
          <a:p>
            <a:pPr marL="0" lvl="0" indent="0" algn="just">
              <a:lnSpc>
                <a:spcPts val="5220"/>
              </a:lnSpc>
              <a:spcBef>
                <a:spcPct val="0"/>
              </a:spcBef>
            </a:pPr>
            <a:r>
              <a:rPr lang="en-US" sz="5220" b="1" spc="-5">
                <a:solidFill>
                  <a:srgbClr val="FFFFFF"/>
                </a:solidFill>
                <a:latin typeface="Open Sans Bold"/>
                <a:ea typeface="Open Sans Bold"/>
                <a:cs typeface="Open Sans Bold"/>
                <a:sym typeface="Open Sans Bold"/>
              </a:rPr>
              <a:t>TEAM MEMBERS :</a:t>
            </a:r>
          </a:p>
        </p:txBody>
      </p:sp>
      <p:sp>
        <p:nvSpPr>
          <p:cNvPr id="6" name="TextBox 6"/>
          <p:cNvSpPr txBox="1"/>
          <p:nvPr/>
        </p:nvSpPr>
        <p:spPr>
          <a:xfrm>
            <a:off x="602069" y="5599250"/>
            <a:ext cx="8274227" cy="4419602"/>
          </a:xfrm>
          <a:prstGeom prst="rect">
            <a:avLst/>
          </a:prstGeom>
        </p:spPr>
        <p:txBody>
          <a:bodyPr lIns="0" tIns="0" rIns="0" bIns="0" rtlCol="0" anchor="t">
            <a:spAutoFit/>
          </a:bodyPr>
          <a:lstStyle/>
          <a:p>
            <a:pPr marL="734053" lvl="1" indent="-367026" algn="just">
              <a:lnSpc>
                <a:spcPts val="6119"/>
              </a:lnSpc>
              <a:buFont typeface="Arial"/>
              <a:buChar char="•"/>
            </a:pPr>
            <a:r>
              <a:rPr lang="en-US" sz="3399" spc="16">
                <a:solidFill>
                  <a:srgbClr val="FFFFFF"/>
                </a:solidFill>
                <a:latin typeface="Open Sans"/>
                <a:ea typeface="Open Sans"/>
                <a:cs typeface="Open Sans"/>
                <a:sym typeface="Open Sans"/>
              </a:rPr>
              <a:t>Esraa Bassiouny Mohammed</a:t>
            </a:r>
          </a:p>
          <a:p>
            <a:pPr marL="734053" lvl="1" indent="-367026" algn="just">
              <a:lnSpc>
                <a:spcPts val="6119"/>
              </a:lnSpc>
              <a:buFont typeface="Arial"/>
              <a:buChar char="•"/>
            </a:pPr>
            <a:r>
              <a:rPr lang="en-US" sz="3399" spc="16">
                <a:solidFill>
                  <a:srgbClr val="FFFFFF"/>
                </a:solidFill>
                <a:latin typeface="Open Sans"/>
                <a:ea typeface="Open Sans"/>
                <a:cs typeface="Open Sans"/>
                <a:sym typeface="Open Sans"/>
              </a:rPr>
              <a:t>Sara Eslam Mohammed</a:t>
            </a:r>
          </a:p>
          <a:p>
            <a:pPr marL="734053" lvl="1" indent="-367026" algn="just">
              <a:lnSpc>
                <a:spcPts val="6119"/>
              </a:lnSpc>
              <a:buFont typeface="Arial"/>
              <a:buChar char="•"/>
            </a:pPr>
            <a:r>
              <a:rPr lang="en-US" sz="3399" spc="16">
                <a:solidFill>
                  <a:srgbClr val="FFFFFF"/>
                </a:solidFill>
                <a:latin typeface="Open Sans"/>
                <a:ea typeface="Open Sans"/>
                <a:cs typeface="Open Sans"/>
                <a:sym typeface="Open Sans"/>
              </a:rPr>
              <a:t>Ziad Yasser Moussa</a:t>
            </a:r>
          </a:p>
          <a:p>
            <a:pPr marL="734053" lvl="1" indent="-367026" algn="just">
              <a:lnSpc>
                <a:spcPts val="6119"/>
              </a:lnSpc>
              <a:buFont typeface="Arial"/>
              <a:buChar char="•"/>
            </a:pPr>
            <a:r>
              <a:rPr lang="en-US" sz="3399" spc="16">
                <a:solidFill>
                  <a:srgbClr val="FFFFFF"/>
                </a:solidFill>
                <a:latin typeface="Open Sans"/>
                <a:ea typeface="Open Sans"/>
                <a:cs typeface="Open Sans"/>
                <a:sym typeface="Open Sans"/>
              </a:rPr>
              <a:t>Ziad Khaled Ibrahim</a:t>
            </a:r>
          </a:p>
          <a:p>
            <a:pPr marL="734053" lvl="1" indent="-367026" algn="just">
              <a:lnSpc>
                <a:spcPts val="6119"/>
              </a:lnSpc>
              <a:buFont typeface="Arial"/>
              <a:buChar char="•"/>
            </a:pPr>
            <a:r>
              <a:rPr lang="en-US" sz="3399" spc="16">
                <a:solidFill>
                  <a:srgbClr val="FFFFFF"/>
                </a:solidFill>
                <a:latin typeface="Open Sans"/>
                <a:ea typeface="Open Sans"/>
                <a:cs typeface="Open Sans"/>
                <a:sym typeface="Open Sans"/>
              </a:rPr>
              <a:t>Amr Mohammed Ibrahim</a:t>
            </a:r>
          </a:p>
          <a:p>
            <a:pPr algn="just">
              <a:lnSpc>
                <a:spcPts val="4679"/>
              </a:lnSpc>
            </a:pPr>
            <a:endParaRPr lang="en-US" sz="3399" spc="16">
              <a:solidFill>
                <a:srgbClr val="FFFFFF"/>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028700" y="-1165836"/>
            <a:ext cx="17248474" cy="7086248"/>
          </a:xfrm>
          <a:custGeom>
            <a:avLst/>
            <a:gdLst/>
            <a:ahLst/>
            <a:cxnLst/>
            <a:rect l="l" t="t" r="r" b="b"/>
            <a:pathLst>
              <a:path w="17248474" h="7086248">
                <a:moveTo>
                  <a:pt x="17248474" y="7086248"/>
                </a:moveTo>
                <a:lnTo>
                  <a:pt x="0" y="7086248"/>
                </a:lnTo>
                <a:lnTo>
                  <a:pt x="0" y="0"/>
                </a:lnTo>
                <a:lnTo>
                  <a:pt x="17248474" y="0"/>
                </a:lnTo>
                <a:lnTo>
                  <a:pt x="17248474" y="7086248"/>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9692202" y="1437125"/>
            <a:ext cx="6767792" cy="4074777"/>
            <a:chOff x="0" y="0"/>
            <a:chExt cx="1563603" cy="941420"/>
          </a:xfrm>
        </p:grpSpPr>
        <p:sp>
          <p:nvSpPr>
            <p:cNvPr id="4" name="Freeform 4"/>
            <p:cNvSpPr/>
            <p:nvPr/>
          </p:nvSpPr>
          <p:spPr>
            <a:xfrm>
              <a:off x="0" y="0"/>
              <a:ext cx="1563603" cy="941420"/>
            </a:xfrm>
            <a:custGeom>
              <a:avLst/>
              <a:gdLst/>
              <a:ahLst/>
              <a:cxnLst/>
              <a:rect l="l" t="t" r="r" b="b"/>
              <a:pathLst>
                <a:path w="1563603" h="941420">
                  <a:moveTo>
                    <a:pt x="0" y="0"/>
                  </a:moveTo>
                  <a:lnTo>
                    <a:pt x="1563603" y="0"/>
                  </a:lnTo>
                  <a:lnTo>
                    <a:pt x="1563603" y="941420"/>
                  </a:lnTo>
                  <a:lnTo>
                    <a:pt x="0" y="941420"/>
                  </a:lnTo>
                  <a:close/>
                </a:path>
              </a:pathLst>
            </a:custGeom>
            <a:blipFill>
              <a:blip r:embed="rId4"/>
              <a:stretch>
                <a:fillRect t="-6366" b="-6366"/>
              </a:stretch>
            </a:blipFill>
          </p:spPr>
        </p:sp>
      </p:grpSp>
      <p:sp>
        <p:nvSpPr>
          <p:cNvPr id="5" name="TextBox 5"/>
          <p:cNvSpPr txBox="1"/>
          <p:nvPr/>
        </p:nvSpPr>
        <p:spPr>
          <a:xfrm>
            <a:off x="602069" y="2688103"/>
            <a:ext cx="7340395" cy="5269231"/>
          </a:xfrm>
          <a:prstGeom prst="rect">
            <a:avLst/>
          </a:prstGeom>
        </p:spPr>
        <p:txBody>
          <a:bodyPr lIns="0" tIns="0" rIns="0" bIns="0" rtlCol="0" anchor="t">
            <a:spAutoFit/>
          </a:bodyPr>
          <a:lstStyle/>
          <a:p>
            <a:pPr algn="just">
              <a:lnSpc>
                <a:spcPts val="4679"/>
              </a:lnSpc>
            </a:pPr>
            <a:r>
              <a:rPr lang="en-US" sz="2599" spc="12">
                <a:solidFill>
                  <a:srgbClr val="FFFFFF"/>
                </a:solidFill>
                <a:latin typeface="Open Sans"/>
                <a:ea typeface="Open Sans"/>
                <a:cs typeface="Open Sans"/>
                <a:sym typeface="Open Sans"/>
              </a:rPr>
              <a:t>Conventional vehicles depend on human perception and reaction, leading to accidents caused by distraction or delayed response. Existing autonomous systems are often too complex and expensive for wide use. The key challenge is creating an affordable vision-based system that can accurately detect obstacles, recognize traffic signs, and make real-time decisions for safe navigation.</a:t>
            </a:r>
          </a:p>
        </p:txBody>
      </p:sp>
      <p:sp>
        <p:nvSpPr>
          <p:cNvPr id="6" name="TextBox 6"/>
          <p:cNvSpPr txBox="1"/>
          <p:nvPr/>
        </p:nvSpPr>
        <p:spPr>
          <a:xfrm>
            <a:off x="602069" y="1532375"/>
            <a:ext cx="7849009" cy="694569"/>
          </a:xfrm>
          <a:prstGeom prst="rect">
            <a:avLst/>
          </a:prstGeom>
        </p:spPr>
        <p:txBody>
          <a:bodyPr lIns="0" tIns="0" rIns="0" bIns="0" rtlCol="0" anchor="t">
            <a:spAutoFit/>
          </a:bodyPr>
          <a:lstStyle/>
          <a:p>
            <a:pPr marL="0" lvl="0" indent="0" algn="just">
              <a:lnSpc>
                <a:spcPts val="5220"/>
              </a:lnSpc>
              <a:spcBef>
                <a:spcPct val="0"/>
              </a:spcBef>
            </a:pPr>
            <a:r>
              <a:rPr lang="en-US" sz="5220" b="1" u="none" strike="noStrike" spc="-5">
                <a:solidFill>
                  <a:srgbClr val="FFFFFF"/>
                </a:solidFill>
                <a:latin typeface="Open Sans Bold"/>
                <a:ea typeface="Open Sans Bold"/>
                <a:cs typeface="Open Sans Bold"/>
                <a:sym typeface="Open Sans Bold"/>
              </a:rPr>
              <a:t>PROBLEM DEFINITION</a:t>
            </a:r>
          </a:p>
        </p:txBody>
      </p:sp>
      <p:grpSp>
        <p:nvGrpSpPr>
          <p:cNvPr id="7" name="Group 7"/>
          <p:cNvGrpSpPr/>
          <p:nvPr/>
        </p:nvGrpSpPr>
        <p:grpSpPr>
          <a:xfrm>
            <a:off x="9692062" y="5694206"/>
            <a:ext cx="6767932" cy="4075234"/>
            <a:chOff x="0" y="0"/>
            <a:chExt cx="1511974" cy="910418"/>
          </a:xfrm>
        </p:grpSpPr>
        <p:sp>
          <p:nvSpPr>
            <p:cNvPr id="8" name="Freeform 8"/>
            <p:cNvSpPr/>
            <p:nvPr/>
          </p:nvSpPr>
          <p:spPr>
            <a:xfrm>
              <a:off x="0" y="0"/>
              <a:ext cx="1511974" cy="910418"/>
            </a:xfrm>
            <a:custGeom>
              <a:avLst/>
              <a:gdLst/>
              <a:ahLst/>
              <a:cxnLst/>
              <a:rect l="l" t="t" r="r" b="b"/>
              <a:pathLst>
                <a:path w="1511974" h="910418">
                  <a:moveTo>
                    <a:pt x="0" y="0"/>
                  </a:moveTo>
                  <a:lnTo>
                    <a:pt x="1511974" y="0"/>
                  </a:lnTo>
                  <a:lnTo>
                    <a:pt x="1511974" y="910418"/>
                  </a:lnTo>
                  <a:lnTo>
                    <a:pt x="0" y="910418"/>
                  </a:lnTo>
                  <a:close/>
                </a:path>
              </a:pathLst>
            </a:custGeom>
            <a:blipFill>
              <a:blip r:embed="rId5"/>
              <a:stretch>
                <a:fillRect t="-8126" b="-8126"/>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596585" y="-1044326"/>
            <a:ext cx="17248474" cy="7086248"/>
          </a:xfrm>
          <a:custGeom>
            <a:avLst/>
            <a:gdLst/>
            <a:ahLst/>
            <a:cxnLst/>
            <a:rect l="l" t="t" r="r" b="b"/>
            <a:pathLst>
              <a:path w="17248474" h="7086248">
                <a:moveTo>
                  <a:pt x="17248474" y="7086248"/>
                </a:moveTo>
                <a:lnTo>
                  <a:pt x="0" y="7086248"/>
                </a:lnTo>
                <a:lnTo>
                  <a:pt x="0" y="0"/>
                </a:lnTo>
                <a:lnTo>
                  <a:pt x="17248474" y="0"/>
                </a:lnTo>
                <a:lnTo>
                  <a:pt x="17248474" y="708624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8703" y="2715577"/>
            <a:ext cx="7340395" cy="4841494"/>
          </a:xfrm>
          <a:prstGeom prst="rect">
            <a:avLst/>
          </a:prstGeom>
        </p:spPr>
        <p:txBody>
          <a:bodyPr lIns="0" tIns="0" rIns="0" bIns="0" rtlCol="0" anchor="t">
            <a:spAutoFit/>
          </a:bodyPr>
          <a:lstStyle/>
          <a:p>
            <a:pPr marL="561337" lvl="1" indent="-280669" algn="just">
              <a:lnSpc>
                <a:spcPts val="3847"/>
              </a:lnSpc>
              <a:buFont typeface="Arial"/>
              <a:buChar char="•"/>
            </a:pPr>
            <a:r>
              <a:rPr lang="en-US" sz="2599" spc="12">
                <a:solidFill>
                  <a:srgbClr val="FFFFFF"/>
                </a:solidFill>
                <a:latin typeface="Open Sans"/>
                <a:ea typeface="Open Sans"/>
                <a:cs typeface="Open Sans"/>
                <a:sym typeface="Open Sans"/>
              </a:rPr>
              <a:t>Road accidents cause</a:t>
            </a:r>
            <a:r>
              <a:rPr lang="en-US" sz="2599" spc="12">
                <a:solidFill>
                  <a:srgbClr val="FF3131"/>
                </a:solidFill>
                <a:latin typeface="Open Sans"/>
                <a:ea typeface="Open Sans"/>
                <a:cs typeface="Open Sans"/>
                <a:sym typeface="Open Sans"/>
              </a:rPr>
              <a:t> ~1.19 million</a:t>
            </a:r>
            <a:r>
              <a:rPr lang="en-US" sz="2599" spc="12">
                <a:solidFill>
                  <a:srgbClr val="FFFFFF"/>
                </a:solidFill>
                <a:latin typeface="Open Sans"/>
                <a:ea typeface="Open Sans"/>
                <a:cs typeface="Open Sans"/>
                <a:sym typeface="Open Sans"/>
              </a:rPr>
              <a:t> deaths and</a:t>
            </a:r>
            <a:r>
              <a:rPr lang="en-US" sz="2599" spc="12">
                <a:solidFill>
                  <a:srgbClr val="FF3131"/>
                </a:solidFill>
                <a:latin typeface="Open Sans"/>
                <a:ea typeface="Open Sans"/>
                <a:cs typeface="Open Sans"/>
                <a:sym typeface="Open Sans"/>
              </a:rPr>
              <a:t> 20–50 million</a:t>
            </a:r>
            <a:r>
              <a:rPr lang="en-US" sz="2599" spc="12">
                <a:solidFill>
                  <a:srgbClr val="FFFFFF"/>
                </a:solidFill>
                <a:latin typeface="Open Sans"/>
                <a:ea typeface="Open Sans"/>
                <a:cs typeface="Open Sans"/>
                <a:sym typeface="Open Sans"/>
              </a:rPr>
              <a:t> injuries annually worldwide.</a:t>
            </a:r>
          </a:p>
          <a:p>
            <a:pPr marL="561337" lvl="1" indent="-280669" algn="just">
              <a:lnSpc>
                <a:spcPts val="3847"/>
              </a:lnSpc>
              <a:buFont typeface="Arial"/>
              <a:buChar char="•"/>
            </a:pPr>
            <a:r>
              <a:rPr lang="en-US" sz="2599" spc="12">
                <a:solidFill>
                  <a:srgbClr val="FF3131"/>
                </a:solidFill>
                <a:latin typeface="Open Sans"/>
                <a:ea typeface="Open Sans"/>
                <a:cs typeface="Open Sans"/>
                <a:sym typeface="Open Sans"/>
              </a:rPr>
              <a:t>Over 90%</a:t>
            </a:r>
            <a:r>
              <a:rPr lang="en-US" sz="2599" spc="12">
                <a:solidFill>
                  <a:srgbClr val="FFFFFF"/>
                </a:solidFill>
                <a:latin typeface="Open Sans"/>
                <a:ea typeface="Open Sans"/>
                <a:cs typeface="Open Sans"/>
                <a:sym typeface="Open Sans"/>
              </a:rPr>
              <a:t> of accidents are caused by human error, mainly due to distraction,  ignoring traffic rules, and excessive speed.</a:t>
            </a:r>
          </a:p>
          <a:p>
            <a:pPr marL="561337" lvl="1" indent="-280669" algn="just">
              <a:lnSpc>
                <a:spcPts val="3847"/>
              </a:lnSpc>
              <a:buFont typeface="Arial"/>
              <a:buChar char="•"/>
            </a:pPr>
            <a:r>
              <a:rPr lang="en-US" sz="2599" spc="12">
                <a:solidFill>
                  <a:srgbClr val="FFFFFF"/>
                </a:solidFill>
                <a:latin typeface="Open Sans"/>
                <a:ea typeface="Open Sans"/>
                <a:cs typeface="Open Sans"/>
                <a:sym typeface="Open Sans"/>
              </a:rPr>
              <a:t>Human error being the major cause motivates the development of safer autonomous systems.</a:t>
            </a:r>
          </a:p>
          <a:p>
            <a:pPr algn="just">
              <a:lnSpc>
                <a:spcPts val="3847"/>
              </a:lnSpc>
            </a:pPr>
            <a:endParaRPr lang="en-US" sz="2599" spc="12">
              <a:solidFill>
                <a:srgbClr val="FFFFFF"/>
              </a:solidFill>
              <a:latin typeface="Open Sans"/>
              <a:ea typeface="Open Sans"/>
              <a:cs typeface="Open Sans"/>
              <a:sym typeface="Open Sans"/>
            </a:endParaRPr>
          </a:p>
        </p:txBody>
      </p:sp>
      <p:grpSp>
        <p:nvGrpSpPr>
          <p:cNvPr id="4" name="Group 4"/>
          <p:cNvGrpSpPr/>
          <p:nvPr/>
        </p:nvGrpSpPr>
        <p:grpSpPr>
          <a:xfrm>
            <a:off x="8760304" y="2194560"/>
            <a:ext cx="8856553" cy="5933069"/>
            <a:chOff x="0" y="0"/>
            <a:chExt cx="1297690" cy="869332"/>
          </a:xfrm>
        </p:grpSpPr>
        <p:sp>
          <p:nvSpPr>
            <p:cNvPr id="5" name="Freeform 5"/>
            <p:cNvSpPr/>
            <p:nvPr/>
          </p:nvSpPr>
          <p:spPr>
            <a:xfrm>
              <a:off x="0" y="0"/>
              <a:ext cx="1297690" cy="869332"/>
            </a:xfrm>
            <a:custGeom>
              <a:avLst/>
              <a:gdLst/>
              <a:ahLst/>
              <a:cxnLst/>
              <a:rect l="l" t="t" r="r" b="b"/>
              <a:pathLst>
                <a:path w="1297690" h="869332">
                  <a:moveTo>
                    <a:pt x="34092" y="0"/>
                  </a:moveTo>
                  <a:lnTo>
                    <a:pt x="1263598" y="0"/>
                  </a:lnTo>
                  <a:cubicBezTo>
                    <a:pt x="1272640" y="0"/>
                    <a:pt x="1281311" y="3592"/>
                    <a:pt x="1287705" y="9985"/>
                  </a:cubicBezTo>
                  <a:cubicBezTo>
                    <a:pt x="1294098" y="16379"/>
                    <a:pt x="1297690" y="25050"/>
                    <a:pt x="1297690" y="34092"/>
                  </a:cubicBezTo>
                  <a:lnTo>
                    <a:pt x="1297690" y="835240"/>
                  </a:lnTo>
                  <a:cubicBezTo>
                    <a:pt x="1297690" y="844282"/>
                    <a:pt x="1294098" y="852953"/>
                    <a:pt x="1287705" y="859347"/>
                  </a:cubicBezTo>
                  <a:cubicBezTo>
                    <a:pt x="1281311" y="865740"/>
                    <a:pt x="1272640" y="869332"/>
                    <a:pt x="1263598" y="869332"/>
                  </a:cubicBezTo>
                  <a:lnTo>
                    <a:pt x="34092" y="869332"/>
                  </a:lnTo>
                  <a:cubicBezTo>
                    <a:pt x="25050" y="869332"/>
                    <a:pt x="16379" y="865740"/>
                    <a:pt x="9985" y="859347"/>
                  </a:cubicBezTo>
                  <a:cubicBezTo>
                    <a:pt x="3592" y="852953"/>
                    <a:pt x="0" y="844282"/>
                    <a:pt x="0" y="835240"/>
                  </a:cubicBezTo>
                  <a:lnTo>
                    <a:pt x="0" y="34092"/>
                  </a:lnTo>
                  <a:cubicBezTo>
                    <a:pt x="0" y="25050"/>
                    <a:pt x="3592" y="16379"/>
                    <a:pt x="9985" y="9985"/>
                  </a:cubicBezTo>
                  <a:cubicBezTo>
                    <a:pt x="16379" y="3592"/>
                    <a:pt x="25050" y="0"/>
                    <a:pt x="34092" y="0"/>
                  </a:cubicBezTo>
                  <a:close/>
                </a:path>
              </a:pathLst>
            </a:custGeom>
            <a:blipFill>
              <a:blip r:embed="rId4"/>
              <a:stretch>
                <a:fillRect l="-3282" r="-3282"/>
              </a:stretch>
            </a:blipFill>
            <a:ln cap="rnd">
              <a:noFill/>
              <a:prstDash val="solid"/>
              <a:round/>
            </a:ln>
          </p:spPr>
        </p:sp>
      </p:grpSp>
      <p:sp>
        <p:nvSpPr>
          <p:cNvPr id="6" name="TextBox 6"/>
          <p:cNvSpPr txBox="1"/>
          <p:nvPr/>
        </p:nvSpPr>
        <p:spPr>
          <a:xfrm>
            <a:off x="478703" y="1499991"/>
            <a:ext cx="5915412" cy="694569"/>
          </a:xfrm>
          <a:prstGeom prst="rect">
            <a:avLst/>
          </a:prstGeom>
        </p:spPr>
        <p:txBody>
          <a:bodyPr lIns="0" tIns="0" rIns="0" bIns="0" rtlCol="0" anchor="t">
            <a:spAutoFit/>
          </a:bodyPr>
          <a:lstStyle/>
          <a:p>
            <a:pPr marL="0" lvl="0" indent="0" algn="just">
              <a:lnSpc>
                <a:spcPts val="5220"/>
              </a:lnSpc>
              <a:spcBef>
                <a:spcPct val="0"/>
              </a:spcBef>
            </a:pPr>
            <a:r>
              <a:rPr lang="en-US" sz="5220" b="1" spc="-5">
                <a:solidFill>
                  <a:srgbClr val="FFFFFF"/>
                </a:solidFill>
                <a:latin typeface="Open Sans Bold"/>
                <a:ea typeface="Open Sans Bold"/>
                <a:cs typeface="Open Sans Bold"/>
                <a:sym typeface="Open Sans Bold"/>
              </a:rPr>
              <a:t>MOTIVATION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2239135" y="-1521755"/>
            <a:ext cx="17248474" cy="7086248"/>
          </a:xfrm>
          <a:custGeom>
            <a:avLst/>
            <a:gdLst/>
            <a:ahLst/>
            <a:cxnLst/>
            <a:rect l="l" t="t" r="r" b="b"/>
            <a:pathLst>
              <a:path w="17248474" h="7086248">
                <a:moveTo>
                  <a:pt x="17248473" y="7086248"/>
                </a:moveTo>
                <a:lnTo>
                  <a:pt x="0" y="7086248"/>
                </a:lnTo>
                <a:lnTo>
                  <a:pt x="0" y="0"/>
                </a:lnTo>
                <a:lnTo>
                  <a:pt x="17248473" y="0"/>
                </a:lnTo>
                <a:lnTo>
                  <a:pt x="17248473" y="708624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32246" y="2215258"/>
            <a:ext cx="15972661" cy="8221981"/>
          </a:xfrm>
          <a:prstGeom prst="rect">
            <a:avLst/>
          </a:prstGeom>
        </p:spPr>
        <p:txBody>
          <a:bodyPr lIns="0" tIns="0" rIns="0" bIns="0" rtlCol="0" anchor="t">
            <a:spAutoFit/>
          </a:bodyPr>
          <a:lstStyle/>
          <a:p>
            <a:pPr marL="561337" lvl="1" indent="-280669" algn="just">
              <a:lnSpc>
                <a:spcPts val="4679"/>
              </a:lnSpc>
              <a:buFont typeface="Arial"/>
              <a:buChar char="•"/>
            </a:pPr>
            <a:r>
              <a:rPr lang="en-US" sz="2599" spc="12">
                <a:solidFill>
                  <a:srgbClr val="FFFFFF"/>
                </a:solidFill>
                <a:latin typeface="Open Sans"/>
                <a:ea typeface="Open Sans"/>
                <a:cs typeface="Open Sans"/>
                <a:sym typeface="Open Sans"/>
              </a:rPr>
              <a:t>Develop a self-driving car system capable of detecting and classifying obstacles.</a:t>
            </a:r>
          </a:p>
          <a:p>
            <a:pPr marL="561337" lvl="1" indent="-280669" algn="just">
              <a:lnSpc>
                <a:spcPts val="4679"/>
              </a:lnSpc>
              <a:buFont typeface="Arial"/>
              <a:buChar char="•"/>
            </a:pPr>
            <a:r>
              <a:rPr lang="en-US" sz="2599" spc="12">
                <a:solidFill>
                  <a:srgbClr val="FFFFFF"/>
                </a:solidFill>
                <a:latin typeface="Open Sans"/>
                <a:ea typeface="Open Sans"/>
                <a:cs typeface="Open Sans"/>
                <a:sym typeface="Open Sans"/>
              </a:rPr>
              <a:t>Enable intelligent decision-making based on real-time perception.</a:t>
            </a:r>
          </a:p>
          <a:p>
            <a:pPr marL="561337" lvl="1" indent="-280669" algn="just">
              <a:lnSpc>
                <a:spcPts val="4679"/>
              </a:lnSpc>
              <a:buFont typeface="Arial"/>
              <a:buChar char="•"/>
            </a:pPr>
            <a:r>
              <a:rPr lang="en-US" sz="2599" spc="12">
                <a:solidFill>
                  <a:srgbClr val="FFFFFF"/>
                </a:solidFill>
                <a:latin typeface="Open Sans"/>
                <a:ea typeface="Open Sans"/>
                <a:cs typeface="Open Sans"/>
                <a:sym typeface="Open Sans"/>
              </a:rPr>
              <a:t>Integrate vision-based perception with sensor data for a cost-effective and adaptable solution.</a:t>
            </a:r>
          </a:p>
          <a:p>
            <a:pPr marL="561337" lvl="1" indent="-280669" algn="just">
              <a:lnSpc>
                <a:spcPts val="4679"/>
              </a:lnSpc>
              <a:buFont typeface="Arial"/>
              <a:buChar char="•"/>
            </a:pPr>
            <a:r>
              <a:rPr lang="en-US" sz="2599" spc="12">
                <a:solidFill>
                  <a:srgbClr val="FFFFFF"/>
                </a:solidFill>
                <a:latin typeface="Open Sans"/>
                <a:ea typeface="Open Sans"/>
                <a:cs typeface="Open Sans"/>
                <a:sym typeface="Open Sans"/>
              </a:rPr>
              <a:t>Enhance road safety by reducing dependency on human attention and reaction time.</a:t>
            </a:r>
          </a:p>
          <a:p>
            <a:pPr marL="561337" lvl="1" indent="-280669" algn="just">
              <a:lnSpc>
                <a:spcPts val="4679"/>
              </a:lnSpc>
              <a:buFont typeface="Arial"/>
              <a:buChar char="•"/>
            </a:pPr>
            <a:r>
              <a:rPr lang="en-US" sz="2599" spc="12">
                <a:solidFill>
                  <a:srgbClr val="FFFFFF"/>
                </a:solidFill>
                <a:latin typeface="Open Sans"/>
                <a:ea typeface="Open Sans"/>
                <a:cs typeface="Open Sans"/>
                <a:sym typeface="Open Sans"/>
              </a:rPr>
              <a:t>Key Objectives</a:t>
            </a:r>
          </a:p>
          <a:p>
            <a:pPr marL="1122675" lvl="2" indent="-374225" algn="just">
              <a:lnSpc>
                <a:spcPts val="4679"/>
              </a:lnSpc>
              <a:buFont typeface="Arial"/>
              <a:buChar char="⚬"/>
            </a:pPr>
            <a:r>
              <a:rPr lang="en-US" sz="2599" b="1" spc="12">
                <a:solidFill>
                  <a:srgbClr val="FFFFFF"/>
                </a:solidFill>
                <a:latin typeface="Open Sans Bold"/>
                <a:ea typeface="Open Sans Bold"/>
                <a:cs typeface="Open Sans Bold"/>
                <a:sym typeface="Open Sans Bold"/>
              </a:rPr>
              <a:t>Object Detection:</a:t>
            </a:r>
            <a:r>
              <a:rPr lang="en-US" sz="2599" spc="12">
                <a:solidFill>
                  <a:srgbClr val="FFFFFF"/>
                </a:solidFill>
                <a:latin typeface="Open Sans"/>
                <a:ea typeface="Open Sans"/>
                <a:cs typeface="Open Sans"/>
                <a:sym typeface="Open Sans"/>
              </a:rPr>
              <a:t> Identify vehicles, pedestrians, and traffic signs using camera input and AI models.</a:t>
            </a:r>
          </a:p>
          <a:p>
            <a:pPr marL="1122675" lvl="2" indent="-374225" algn="just">
              <a:lnSpc>
                <a:spcPts val="4679"/>
              </a:lnSpc>
              <a:buFont typeface="Arial"/>
              <a:buChar char="⚬"/>
            </a:pPr>
            <a:r>
              <a:rPr lang="en-US" sz="2599" b="1" spc="12">
                <a:solidFill>
                  <a:srgbClr val="FFFFFF"/>
                </a:solidFill>
                <a:latin typeface="Open Sans Bold"/>
                <a:ea typeface="Open Sans Bold"/>
                <a:cs typeface="Open Sans Bold"/>
                <a:sym typeface="Open Sans Bold"/>
              </a:rPr>
              <a:t>Decision-Making &amp; Obstacle Avoidance:</a:t>
            </a:r>
            <a:r>
              <a:rPr lang="en-US" sz="2599" spc="12">
                <a:solidFill>
                  <a:srgbClr val="FFFFFF"/>
                </a:solidFill>
                <a:latin typeface="Open Sans"/>
                <a:ea typeface="Open Sans"/>
                <a:cs typeface="Open Sans"/>
                <a:sym typeface="Open Sans"/>
              </a:rPr>
              <a:t> Perform safe driving actions such as braking, steering, and speed control based on detected obstacles and road conditions.</a:t>
            </a:r>
          </a:p>
          <a:p>
            <a:pPr marL="1122675" lvl="2" indent="-374225" algn="just">
              <a:lnSpc>
                <a:spcPts val="4679"/>
              </a:lnSpc>
              <a:buFont typeface="Arial"/>
              <a:buChar char="⚬"/>
            </a:pPr>
            <a:r>
              <a:rPr lang="en-US" sz="2599" b="1" spc="12">
                <a:solidFill>
                  <a:srgbClr val="FFFFFF"/>
                </a:solidFill>
                <a:latin typeface="Open Sans Bold"/>
                <a:ea typeface="Open Sans Bold"/>
                <a:cs typeface="Open Sans Bold"/>
                <a:sym typeface="Open Sans Bold"/>
              </a:rPr>
              <a:t>Hardware Implementation:</a:t>
            </a:r>
            <a:r>
              <a:rPr lang="en-US" sz="2599" spc="12">
                <a:solidFill>
                  <a:srgbClr val="FFFFFF"/>
                </a:solidFill>
                <a:latin typeface="Open Sans"/>
                <a:ea typeface="Open Sans"/>
                <a:cs typeface="Open Sans"/>
                <a:sym typeface="Open Sans"/>
              </a:rPr>
              <a:t> Build a prototype car to demonstrate real-world system performance.</a:t>
            </a:r>
          </a:p>
          <a:p>
            <a:pPr marL="1122675" lvl="2" indent="-374225" algn="just">
              <a:lnSpc>
                <a:spcPts val="4679"/>
              </a:lnSpc>
              <a:buFont typeface="Arial"/>
              <a:buChar char="⚬"/>
            </a:pPr>
            <a:r>
              <a:rPr lang="en-US" sz="2599" b="1" spc="12">
                <a:solidFill>
                  <a:srgbClr val="FFFFFF"/>
                </a:solidFill>
                <a:latin typeface="Open Sans Bold"/>
                <a:ea typeface="Open Sans Bold"/>
                <a:cs typeface="Open Sans Bold"/>
                <a:sym typeface="Open Sans Bold"/>
              </a:rPr>
              <a:t>Integration:</a:t>
            </a:r>
            <a:r>
              <a:rPr lang="en-US" sz="2599" spc="12">
                <a:solidFill>
                  <a:srgbClr val="FFFFFF"/>
                </a:solidFill>
                <a:latin typeface="Open Sans"/>
                <a:ea typeface="Open Sans"/>
                <a:cs typeface="Open Sans"/>
                <a:sym typeface="Open Sans"/>
              </a:rPr>
              <a:t> Combine sensors, cameras, and control modules with AI software for smooth autonomous operation.</a:t>
            </a:r>
          </a:p>
          <a:p>
            <a:pPr algn="just">
              <a:lnSpc>
                <a:spcPts val="4679"/>
              </a:lnSpc>
            </a:pPr>
            <a:endParaRPr lang="en-US" sz="2599" spc="12">
              <a:solidFill>
                <a:srgbClr val="FFFFFF"/>
              </a:solidFill>
              <a:latin typeface="Open Sans"/>
              <a:ea typeface="Open Sans"/>
              <a:cs typeface="Open Sans"/>
              <a:sym typeface="Open Sans"/>
            </a:endParaRPr>
          </a:p>
        </p:txBody>
      </p:sp>
      <p:sp>
        <p:nvSpPr>
          <p:cNvPr id="4" name="TextBox 4"/>
          <p:cNvSpPr txBox="1"/>
          <p:nvPr/>
        </p:nvSpPr>
        <p:spPr>
          <a:xfrm>
            <a:off x="613196" y="1326800"/>
            <a:ext cx="5915412" cy="694569"/>
          </a:xfrm>
          <a:prstGeom prst="rect">
            <a:avLst/>
          </a:prstGeom>
        </p:spPr>
        <p:txBody>
          <a:bodyPr lIns="0" tIns="0" rIns="0" bIns="0" rtlCol="0" anchor="t">
            <a:spAutoFit/>
          </a:bodyPr>
          <a:lstStyle/>
          <a:p>
            <a:pPr marL="0" lvl="0" indent="0" algn="just">
              <a:lnSpc>
                <a:spcPts val="5220"/>
              </a:lnSpc>
              <a:spcBef>
                <a:spcPct val="0"/>
              </a:spcBef>
            </a:pPr>
            <a:r>
              <a:rPr lang="en-US" sz="5220" b="1" spc="-5">
                <a:solidFill>
                  <a:srgbClr val="FFFFFF"/>
                </a:solidFill>
                <a:latin typeface="Open Sans Bold"/>
                <a:ea typeface="Open Sans Bold"/>
                <a:cs typeface="Open Sans Bold"/>
                <a:sym typeface="Open Sans Bold"/>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436809" y="-1235442"/>
            <a:ext cx="17248474" cy="7086248"/>
          </a:xfrm>
          <a:custGeom>
            <a:avLst/>
            <a:gdLst/>
            <a:ahLst/>
            <a:cxnLst/>
            <a:rect l="l" t="t" r="r" b="b"/>
            <a:pathLst>
              <a:path w="17248474" h="7086248">
                <a:moveTo>
                  <a:pt x="17248473" y="7086248"/>
                </a:moveTo>
                <a:lnTo>
                  <a:pt x="0" y="7086248"/>
                </a:lnTo>
                <a:lnTo>
                  <a:pt x="0" y="0"/>
                </a:lnTo>
                <a:lnTo>
                  <a:pt x="17248473" y="0"/>
                </a:lnTo>
                <a:lnTo>
                  <a:pt x="17248473" y="7086248"/>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624521" y="0"/>
            <a:ext cx="6653954" cy="10287000"/>
            <a:chOff x="0" y="0"/>
            <a:chExt cx="824697" cy="1274980"/>
          </a:xfrm>
        </p:grpSpPr>
        <p:sp>
          <p:nvSpPr>
            <p:cNvPr id="4" name="Freeform 4"/>
            <p:cNvSpPr/>
            <p:nvPr/>
          </p:nvSpPr>
          <p:spPr>
            <a:xfrm>
              <a:off x="0" y="0"/>
              <a:ext cx="824697" cy="1274980"/>
            </a:xfrm>
            <a:custGeom>
              <a:avLst/>
              <a:gdLst/>
              <a:ahLst/>
              <a:cxnLst/>
              <a:rect l="l" t="t" r="r" b="b"/>
              <a:pathLst>
                <a:path w="824697" h="1274980">
                  <a:moveTo>
                    <a:pt x="0" y="0"/>
                  </a:moveTo>
                  <a:lnTo>
                    <a:pt x="824697" y="0"/>
                  </a:lnTo>
                  <a:lnTo>
                    <a:pt x="824697" y="1274980"/>
                  </a:lnTo>
                  <a:lnTo>
                    <a:pt x="0" y="1274980"/>
                  </a:lnTo>
                  <a:close/>
                </a:path>
              </a:pathLst>
            </a:custGeom>
            <a:blipFill>
              <a:blip r:embed="rId4"/>
              <a:stretch>
                <a:fillRect l="-27299" r="-27299"/>
              </a:stretch>
            </a:blipFill>
          </p:spPr>
        </p:sp>
      </p:grpSp>
      <p:sp>
        <p:nvSpPr>
          <p:cNvPr id="5" name="TextBox 5"/>
          <p:cNvSpPr txBox="1"/>
          <p:nvPr/>
        </p:nvSpPr>
        <p:spPr>
          <a:xfrm>
            <a:off x="365719" y="2132810"/>
            <a:ext cx="9833099" cy="2277111"/>
          </a:xfrm>
          <a:prstGeom prst="rect">
            <a:avLst/>
          </a:prstGeom>
        </p:spPr>
        <p:txBody>
          <a:bodyPr lIns="0" tIns="0" rIns="0" bIns="0" rtlCol="0" anchor="t">
            <a:spAutoFit/>
          </a:bodyPr>
          <a:lstStyle/>
          <a:p>
            <a:pPr algn="just">
              <a:lnSpc>
                <a:spcPts val="3639"/>
              </a:lnSpc>
            </a:pPr>
            <a:r>
              <a:rPr lang="en-US" sz="2599" b="1">
                <a:solidFill>
                  <a:srgbClr val="FFFFFF"/>
                </a:solidFill>
                <a:latin typeface="Open Sans Bold"/>
                <a:ea typeface="Open Sans Bold"/>
                <a:cs typeface="Open Sans Bold"/>
                <a:sym typeface="Open Sans Bold"/>
              </a:rPr>
              <a:t>Datasets</a:t>
            </a:r>
          </a:p>
          <a:p>
            <a:pPr marL="561336" lvl="1" indent="-280668" algn="just">
              <a:lnSpc>
                <a:spcPts val="3639"/>
              </a:lnSpc>
              <a:buFont typeface="Arial"/>
              <a:buChar char="•"/>
            </a:pPr>
            <a:r>
              <a:rPr lang="en-US" sz="2599">
                <a:solidFill>
                  <a:srgbClr val="FFFFFF"/>
                </a:solidFill>
                <a:latin typeface="Open Sans"/>
                <a:ea typeface="Open Sans"/>
                <a:cs typeface="Open Sans"/>
                <a:sym typeface="Open Sans"/>
              </a:rPr>
              <a:t>Custom &amp; Local: Many </a:t>
            </a:r>
            <a:r>
              <a:rPr lang="en-US" sz="2599" u="none" strike="noStrike">
                <a:solidFill>
                  <a:srgbClr val="FFFFFF"/>
                </a:solidFill>
                <a:latin typeface="Open Sans"/>
                <a:ea typeface="Open Sans"/>
                <a:cs typeface="Open Sans"/>
                <a:sym typeface="Open Sans"/>
              </a:rPr>
              <a:t>research prototypes rely on custom-captured images adapted to their specific, localized environments and traffic signs.</a:t>
            </a:r>
          </a:p>
          <a:p>
            <a:pPr marL="0" lvl="1" indent="0" algn="just">
              <a:lnSpc>
                <a:spcPts val="3639"/>
              </a:lnSpc>
            </a:pPr>
            <a:endParaRPr lang="en-US" sz="2599" u="none" strike="noStrike">
              <a:solidFill>
                <a:srgbClr val="FFFFFF"/>
              </a:solidFill>
              <a:latin typeface="Open Sans"/>
              <a:ea typeface="Open Sans"/>
              <a:cs typeface="Open Sans"/>
              <a:sym typeface="Open Sans"/>
            </a:endParaRPr>
          </a:p>
        </p:txBody>
      </p:sp>
      <p:sp>
        <p:nvSpPr>
          <p:cNvPr id="6" name="TextBox 6"/>
          <p:cNvSpPr txBox="1"/>
          <p:nvPr/>
        </p:nvSpPr>
        <p:spPr>
          <a:xfrm>
            <a:off x="585113" y="4566427"/>
            <a:ext cx="10520499" cy="5020311"/>
          </a:xfrm>
          <a:prstGeom prst="rect">
            <a:avLst/>
          </a:prstGeom>
        </p:spPr>
        <p:txBody>
          <a:bodyPr lIns="0" tIns="0" rIns="0" bIns="0" rtlCol="0" anchor="t">
            <a:spAutoFit/>
          </a:bodyPr>
          <a:lstStyle/>
          <a:p>
            <a:pPr marL="0" lvl="1" indent="0" algn="just">
              <a:lnSpc>
                <a:spcPts val="3639"/>
              </a:lnSpc>
            </a:pPr>
            <a:r>
              <a:rPr lang="en-US" sz="2599" b="1" u="none" strike="noStrike">
                <a:solidFill>
                  <a:srgbClr val="FFFFFF"/>
                </a:solidFill>
                <a:latin typeface="Open Sans Bold"/>
                <a:ea typeface="Open Sans Bold"/>
                <a:cs typeface="Open Sans Bold"/>
                <a:sym typeface="Open Sans Bold"/>
              </a:rPr>
              <a:t>Object Detection</a:t>
            </a:r>
            <a:r>
              <a:rPr lang="en-US" sz="2599" u="none" strike="noStrike">
                <a:solidFill>
                  <a:srgbClr val="FFFFFF"/>
                </a:solidFill>
                <a:latin typeface="Open Sans"/>
                <a:ea typeface="Open Sans"/>
                <a:cs typeface="Open Sans"/>
                <a:sym typeface="Open Sans"/>
              </a:rPr>
              <a:t> </a:t>
            </a:r>
          </a:p>
          <a:p>
            <a:pPr marL="561336" lvl="1" indent="-280668" algn="just">
              <a:lnSpc>
                <a:spcPts val="3639"/>
              </a:lnSpc>
              <a:buFont typeface="Arial"/>
              <a:buChar char="•"/>
            </a:pPr>
            <a:r>
              <a:rPr lang="en-US" sz="2599" u="none" strike="noStrike">
                <a:solidFill>
                  <a:srgbClr val="FFFFFF"/>
                </a:solidFill>
                <a:latin typeface="Open Sans"/>
                <a:ea typeface="Open Sans"/>
                <a:cs typeface="Open Sans"/>
                <a:sym typeface="Open Sans"/>
              </a:rPr>
              <a:t>Deep Learning:  CNNs , Faster RCNN and lightweight models like YOLO  (v5,v8) are widely used for detecting cars and pedestrians.</a:t>
            </a:r>
          </a:p>
          <a:p>
            <a:pPr marL="0" lvl="1" indent="0" algn="just">
              <a:lnSpc>
                <a:spcPts val="3639"/>
              </a:lnSpc>
            </a:pPr>
            <a:endParaRPr lang="en-US" sz="2599" u="none" strike="noStrike">
              <a:solidFill>
                <a:srgbClr val="FFFFFF"/>
              </a:solidFill>
              <a:latin typeface="Open Sans"/>
              <a:ea typeface="Open Sans"/>
              <a:cs typeface="Open Sans"/>
              <a:sym typeface="Open Sans"/>
            </a:endParaRPr>
          </a:p>
          <a:p>
            <a:pPr marL="561336" lvl="1" indent="-280668" algn="just">
              <a:lnSpc>
                <a:spcPts val="3639"/>
              </a:lnSpc>
              <a:buFont typeface="Arial"/>
              <a:buChar char="•"/>
            </a:pPr>
            <a:r>
              <a:rPr lang="en-US" sz="2599" u="none" strike="noStrike">
                <a:solidFill>
                  <a:srgbClr val="FFFFFF"/>
                </a:solidFill>
                <a:latin typeface="Open Sans"/>
                <a:ea typeface="Open Sans"/>
                <a:cs typeface="Open Sans"/>
                <a:sym typeface="Open Sans"/>
              </a:rPr>
              <a:t>Computer Vision: Classical methods like Hough Circle Transform and Edge Detection are used in low-cost prototypes for simple tasks, such as detecting circular traffic signs.</a:t>
            </a:r>
          </a:p>
          <a:p>
            <a:pPr marL="0" lvl="1" indent="0" algn="just">
              <a:lnSpc>
                <a:spcPts val="3639"/>
              </a:lnSpc>
            </a:pPr>
            <a:endParaRPr lang="en-US" sz="2599" u="none" strike="noStrike">
              <a:solidFill>
                <a:srgbClr val="FFFFFF"/>
              </a:solidFill>
              <a:latin typeface="Open Sans"/>
              <a:ea typeface="Open Sans"/>
              <a:cs typeface="Open Sans"/>
              <a:sym typeface="Open Sans"/>
            </a:endParaRPr>
          </a:p>
          <a:p>
            <a:pPr marL="561336" lvl="1" indent="-280668" algn="just">
              <a:lnSpc>
                <a:spcPts val="3639"/>
              </a:lnSpc>
              <a:buFont typeface="Arial"/>
              <a:buChar char="•"/>
            </a:pPr>
            <a:r>
              <a:rPr lang="en-US" sz="2599" u="none" strike="noStrike">
                <a:solidFill>
                  <a:srgbClr val="FFFFFF"/>
                </a:solidFill>
                <a:latin typeface="Open Sans"/>
                <a:ea typeface="Open Sans"/>
                <a:cs typeface="Open Sans"/>
                <a:sym typeface="Open Sans"/>
              </a:rPr>
              <a:t>Depth Sensing: Object detection is complemented by traditional distance sensors (Ultrasonic) .</a:t>
            </a:r>
          </a:p>
          <a:p>
            <a:pPr marL="0" lvl="1" indent="0" algn="just">
              <a:lnSpc>
                <a:spcPts val="3639"/>
              </a:lnSpc>
            </a:pPr>
            <a:endParaRPr lang="en-US" sz="2599" u="none" strike="noStrike">
              <a:solidFill>
                <a:srgbClr val="FFFFFF"/>
              </a:solidFill>
              <a:latin typeface="Open Sans"/>
              <a:ea typeface="Open Sans"/>
              <a:cs typeface="Open Sans"/>
              <a:sym typeface="Open Sans"/>
            </a:endParaRPr>
          </a:p>
        </p:txBody>
      </p:sp>
      <p:sp>
        <p:nvSpPr>
          <p:cNvPr id="7" name="TextBox 7"/>
          <p:cNvSpPr txBox="1"/>
          <p:nvPr/>
        </p:nvSpPr>
        <p:spPr>
          <a:xfrm>
            <a:off x="585113" y="874360"/>
            <a:ext cx="9110035" cy="877450"/>
          </a:xfrm>
          <a:prstGeom prst="rect">
            <a:avLst/>
          </a:prstGeom>
        </p:spPr>
        <p:txBody>
          <a:bodyPr lIns="0" tIns="0" rIns="0" bIns="0" rtlCol="0" anchor="t">
            <a:spAutoFit/>
          </a:bodyPr>
          <a:lstStyle/>
          <a:p>
            <a:pPr algn="just">
              <a:lnSpc>
                <a:spcPts val="3420"/>
              </a:lnSpc>
            </a:pPr>
            <a:r>
              <a:rPr lang="en-US" sz="3420" b="1" spc="-3">
                <a:solidFill>
                  <a:srgbClr val="FFFFFF"/>
                </a:solidFill>
                <a:latin typeface="Open Sans Bold"/>
                <a:ea typeface="Open Sans Bold"/>
                <a:cs typeface="Open Sans Bold"/>
                <a:sym typeface="Open Sans Bold"/>
              </a:rPr>
              <a:t>SURVEY OF CORE AUTONOMOUS DRIVING COMPONENTS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935270" y="-843003"/>
            <a:ext cx="17248474" cy="7086248"/>
          </a:xfrm>
          <a:custGeom>
            <a:avLst/>
            <a:gdLst/>
            <a:ahLst/>
            <a:cxnLst/>
            <a:rect l="l" t="t" r="r" b="b"/>
            <a:pathLst>
              <a:path w="17248474" h="7086248">
                <a:moveTo>
                  <a:pt x="17248474" y="7086248"/>
                </a:moveTo>
                <a:lnTo>
                  <a:pt x="0" y="7086248"/>
                </a:lnTo>
                <a:lnTo>
                  <a:pt x="0" y="0"/>
                </a:lnTo>
                <a:lnTo>
                  <a:pt x="17248474" y="0"/>
                </a:lnTo>
                <a:lnTo>
                  <a:pt x="17248474" y="708624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34620" y="684639"/>
            <a:ext cx="9124887" cy="1321675"/>
          </a:xfrm>
          <a:prstGeom prst="rect">
            <a:avLst/>
          </a:prstGeom>
        </p:spPr>
        <p:txBody>
          <a:bodyPr lIns="0" tIns="0" rIns="0" bIns="0" rtlCol="0" anchor="t">
            <a:spAutoFit/>
          </a:bodyPr>
          <a:lstStyle/>
          <a:p>
            <a:pPr algn="l">
              <a:lnSpc>
                <a:spcPts val="5472"/>
              </a:lnSpc>
            </a:pPr>
            <a:r>
              <a:rPr lang="en-US" sz="3420" b="1">
                <a:solidFill>
                  <a:srgbClr val="FFFFFF"/>
                </a:solidFill>
                <a:latin typeface="Open Sans Bold"/>
                <a:ea typeface="Open Sans Bold"/>
                <a:cs typeface="Open Sans Bold"/>
                <a:sym typeface="Open Sans Bold"/>
              </a:rPr>
              <a:t>MOST COMMON MODELS IN OBJECT DETECTION</a:t>
            </a:r>
          </a:p>
        </p:txBody>
      </p:sp>
      <p:sp>
        <p:nvSpPr>
          <p:cNvPr id="4" name="TextBox 4"/>
          <p:cNvSpPr txBox="1"/>
          <p:nvPr/>
        </p:nvSpPr>
        <p:spPr>
          <a:xfrm>
            <a:off x="48754" y="2238476"/>
            <a:ext cx="7866109" cy="1020445"/>
          </a:xfrm>
          <a:prstGeom prst="rect">
            <a:avLst/>
          </a:prstGeom>
        </p:spPr>
        <p:txBody>
          <a:bodyPr lIns="0" tIns="0" rIns="0" bIns="0" rtlCol="0" anchor="t">
            <a:spAutoFit/>
          </a:bodyPr>
          <a:lstStyle/>
          <a:p>
            <a:pPr marL="561341" lvl="1" indent="-280670" algn="l">
              <a:lnSpc>
                <a:spcPts val="4160"/>
              </a:lnSpc>
              <a:buFont typeface="Arial"/>
              <a:buChar char="•"/>
            </a:pPr>
            <a:r>
              <a:rPr lang="en-US" sz="2600" b="1">
                <a:solidFill>
                  <a:srgbClr val="FFFFFF"/>
                </a:solidFill>
                <a:latin typeface="Open Sans Bold"/>
                <a:ea typeface="Open Sans Bold"/>
                <a:cs typeface="Open Sans Bold"/>
                <a:sym typeface="Open Sans Bold"/>
              </a:rPr>
              <a:t>Convolutional Neural Networks (CNNs)</a:t>
            </a:r>
          </a:p>
          <a:p>
            <a:pPr algn="l">
              <a:lnSpc>
                <a:spcPts val="4160"/>
              </a:lnSpc>
            </a:pPr>
            <a:endParaRPr lang="en-US" sz="2600" b="1">
              <a:solidFill>
                <a:srgbClr val="FFFFFF"/>
              </a:solidFill>
              <a:latin typeface="Open Sans Bold"/>
              <a:ea typeface="Open Sans Bold"/>
              <a:cs typeface="Open Sans Bold"/>
              <a:sym typeface="Open Sans Bold"/>
            </a:endParaRPr>
          </a:p>
        </p:txBody>
      </p:sp>
      <p:sp>
        <p:nvSpPr>
          <p:cNvPr id="5" name="TextBox 5"/>
          <p:cNvSpPr txBox="1"/>
          <p:nvPr/>
        </p:nvSpPr>
        <p:spPr>
          <a:xfrm>
            <a:off x="67867" y="4098861"/>
            <a:ext cx="10377783" cy="1020445"/>
          </a:xfrm>
          <a:prstGeom prst="rect">
            <a:avLst/>
          </a:prstGeom>
        </p:spPr>
        <p:txBody>
          <a:bodyPr lIns="0" tIns="0" rIns="0" bIns="0" rtlCol="0" anchor="t">
            <a:spAutoFit/>
          </a:bodyPr>
          <a:lstStyle/>
          <a:p>
            <a:pPr marL="561341" lvl="1" indent="-280670" algn="l">
              <a:lnSpc>
                <a:spcPts val="4160"/>
              </a:lnSpc>
              <a:buFont typeface="Arial"/>
              <a:buChar char="•"/>
            </a:pPr>
            <a:r>
              <a:rPr lang="en-US" sz="2600" b="1">
                <a:solidFill>
                  <a:srgbClr val="FFFFFF"/>
                </a:solidFill>
                <a:latin typeface="Open Sans Bold"/>
                <a:ea typeface="Open Sans Bold"/>
                <a:cs typeface="Open Sans Bold"/>
                <a:sym typeface="Open Sans Bold"/>
              </a:rPr>
              <a:t>FASTER R-CNN (TWO-STAGE DETECTOR)</a:t>
            </a:r>
          </a:p>
          <a:p>
            <a:pPr algn="l">
              <a:lnSpc>
                <a:spcPts val="4160"/>
              </a:lnSpc>
            </a:pPr>
            <a:endParaRPr lang="en-US" sz="2600" b="1">
              <a:solidFill>
                <a:srgbClr val="FFFFFF"/>
              </a:solidFill>
              <a:latin typeface="Open Sans Bold"/>
              <a:ea typeface="Open Sans Bold"/>
              <a:cs typeface="Open Sans Bold"/>
              <a:sym typeface="Open Sans Bold"/>
            </a:endParaRPr>
          </a:p>
        </p:txBody>
      </p:sp>
      <p:sp>
        <p:nvSpPr>
          <p:cNvPr id="6" name="TextBox 6"/>
          <p:cNvSpPr txBox="1"/>
          <p:nvPr/>
        </p:nvSpPr>
        <p:spPr>
          <a:xfrm>
            <a:off x="513017" y="4717986"/>
            <a:ext cx="10756345" cy="1544320"/>
          </a:xfrm>
          <a:prstGeom prst="rect">
            <a:avLst/>
          </a:prstGeom>
        </p:spPr>
        <p:txBody>
          <a:bodyPr lIns="0" tIns="0" rIns="0" bIns="0" rtlCol="0" anchor="t">
            <a:spAutoFit/>
          </a:bodyPr>
          <a:lstStyle/>
          <a:p>
            <a:pPr marL="561341" lvl="1" indent="-280670" algn="l">
              <a:lnSpc>
                <a:spcPts val="4160"/>
              </a:lnSpc>
              <a:buFont typeface="Arial"/>
              <a:buChar char="•"/>
            </a:pPr>
            <a:r>
              <a:rPr lang="en-US" sz="2600">
                <a:solidFill>
                  <a:srgbClr val="FFFFFF"/>
                </a:solidFill>
                <a:latin typeface="Open Sans"/>
                <a:ea typeface="Open Sans"/>
                <a:cs typeface="Open Sans"/>
                <a:sym typeface="Open Sans"/>
              </a:rPr>
              <a:t>Uses a Region Proposal Network (RPN) to suggest object regions</a:t>
            </a:r>
          </a:p>
          <a:p>
            <a:pPr marL="561341" lvl="1" indent="-280670" algn="l">
              <a:lnSpc>
                <a:spcPts val="4160"/>
              </a:lnSpc>
              <a:buFont typeface="Arial"/>
              <a:buChar char="•"/>
            </a:pPr>
            <a:r>
              <a:rPr lang="en-US" sz="2600">
                <a:solidFill>
                  <a:srgbClr val="FFFFFF"/>
                </a:solidFill>
                <a:latin typeface="Open Sans"/>
                <a:ea typeface="Open Sans"/>
                <a:cs typeface="Open Sans"/>
                <a:sym typeface="Open Sans"/>
              </a:rPr>
              <a:t>Provides high accuracy, especially in complex environments</a:t>
            </a:r>
          </a:p>
          <a:p>
            <a:pPr marL="561341" lvl="1" indent="-280670" algn="l">
              <a:lnSpc>
                <a:spcPts val="4160"/>
              </a:lnSpc>
              <a:buFont typeface="Arial"/>
              <a:buChar char="•"/>
            </a:pPr>
            <a:r>
              <a:rPr lang="en-US" sz="2600">
                <a:solidFill>
                  <a:srgbClr val="FFFFFF"/>
                </a:solidFill>
                <a:latin typeface="Open Sans"/>
                <a:ea typeface="Open Sans"/>
                <a:cs typeface="Open Sans"/>
                <a:sym typeface="Open Sans"/>
              </a:rPr>
              <a:t>Suitable when precision &gt; speed (research and analysis)</a:t>
            </a:r>
          </a:p>
        </p:txBody>
      </p:sp>
      <p:sp>
        <p:nvSpPr>
          <p:cNvPr id="7" name="TextBox 7"/>
          <p:cNvSpPr txBox="1"/>
          <p:nvPr/>
        </p:nvSpPr>
        <p:spPr>
          <a:xfrm>
            <a:off x="67867" y="6490906"/>
            <a:ext cx="9124887" cy="496570"/>
          </a:xfrm>
          <a:prstGeom prst="rect">
            <a:avLst/>
          </a:prstGeom>
        </p:spPr>
        <p:txBody>
          <a:bodyPr lIns="0" tIns="0" rIns="0" bIns="0" rtlCol="0" anchor="t">
            <a:spAutoFit/>
          </a:bodyPr>
          <a:lstStyle/>
          <a:p>
            <a:pPr marL="561341" lvl="1" indent="-280670" algn="l">
              <a:lnSpc>
                <a:spcPts val="4160"/>
              </a:lnSpc>
              <a:buFont typeface="Arial"/>
              <a:buChar char="•"/>
            </a:pPr>
            <a:r>
              <a:rPr lang="en-US" sz="2600" b="1">
                <a:solidFill>
                  <a:srgbClr val="FFFFFF"/>
                </a:solidFill>
                <a:latin typeface="Open Sans Bold"/>
                <a:ea typeface="Open Sans Bold"/>
                <a:cs typeface="Open Sans Bold"/>
                <a:sym typeface="Open Sans Bold"/>
              </a:rPr>
              <a:t>YOLO (v5, v8) — One-Stage Detector</a:t>
            </a:r>
          </a:p>
        </p:txBody>
      </p:sp>
      <p:sp>
        <p:nvSpPr>
          <p:cNvPr id="8" name="TextBox 8"/>
          <p:cNvSpPr txBox="1"/>
          <p:nvPr/>
        </p:nvSpPr>
        <p:spPr>
          <a:xfrm>
            <a:off x="513017" y="7023671"/>
            <a:ext cx="10944217" cy="2592070"/>
          </a:xfrm>
          <a:prstGeom prst="rect">
            <a:avLst/>
          </a:prstGeom>
        </p:spPr>
        <p:txBody>
          <a:bodyPr lIns="0" tIns="0" rIns="0" bIns="0" rtlCol="0" anchor="t">
            <a:spAutoFit/>
          </a:bodyPr>
          <a:lstStyle/>
          <a:p>
            <a:pPr marL="561341" lvl="1" indent="-280670" algn="l">
              <a:lnSpc>
                <a:spcPts val="4160"/>
              </a:lnSpc>
              <a:buFont typeface="Arial"/>
              <a:buChar char="•"/>
            </a:pPr>
            <a:r>
              <a:rPr lang="en-US" sz="2600">
                <a:solidFill>
                  <a:srgbClr val="FFFFFF"/>
                </a:solidFill>
                <a:latin typeface="Open Sans"/>
                <a:ea typeface="Open Sans"/>
                <a:cs typeface="Open Sans"/>
                <a:sym typeface="Open Sans"/>
              </a:rPr>
              <a:t>Processes the entire image in a single pass</a:t>
            </a:r>
          </a:p>
          <a:p>
            <a:pPr marL="561341" lvl="1" indent="-280670" algn="l">
              <a:lnSpc>
                <a:spcPts val="4160"/>
              </a:lnSpc>
              <a:buFont typeface="Arial"/>
              <a:buChar char="•"/>
            </a:pPr>
            <a:r>
              <a:rPr lang="en-US" sz="2600">
                <a:solidFill>
                  <a:srgbClr val="FFFFFF"/>
                </a:solidFill>
                <a:latin typeface="Open Sans"/>
                <a:ea typeface="Open Sans"/>
                <a:cs typeface="Open Sans"/>
                <a:sym typeface="Open Sans"/>
              </a:rPr>
              <a:t>Real-time performance (30–60 FPS)</a:t>
            </a:r>
          </a:p>
          <a:p>
            <a:pPr marL="561341" lvl="1" indent="-280670" algn="l">
              <a:lnSpc>
                <a:spcPts val="4160"/>
              </a:lnSpc>
              <a:buFont typeface="Arial"/>
              <a:buChar char="•"/>
            </a:pPr>
            <a:r>
              <a:rPr lang="en-US" sz="2600">
                <a:solidFill>
                  <a:srgbClr val="FFFFFF"/>
                </a:solidFill>
                <a:latin typeface="Open Sans"/>
                <a:ea typeface="Open Sans"/>
                <a:cs typeface="Open Sans"/>
                <a:sym typeface="Open Sans"/>
              </a:rPr>
              <a:t>YOLOv8 enhancements:</a:t>
            </a:r>
          </a:p>
          <a:p>
            <a:pPr marL="561341" lvl="1" indent="-280670" algn="l">
              <a:lnSpc>
                <a:spcPts val="4160"/>
              </a:lnSpc>
              <a:buFont typeface="Arial"/>
              <a:buChar char="•"/>
            </a:pPr>
            <a:r>
              <a:rPr lang="en-US" sz="2600">
                <a:solidFill>
                  <a:srgbClr val="FFFFFF"/>
                </a:solidFill>
                <a:latin typeface="Open Sans"/>
                <a:ea typeface="Open Sans"/>
                <a:cs typeface="Open Sans"/>
                <a:sym typeface="Open Sans"/>
              </a:rPr>
              <a:t>Anchor-free detection - Strong feature pyramids -Excellent on small or custom datasets</a:t>
            </a:r>
          </a:p>
        </p:txBody>
      </p:sp>
      <p:sp>
        <p:nvSpPr>
          <p:cNvPr id="9" name="TextBox 9"/>
          <p:cNvSpPr txBox="1"/>
          <p:nvPr/>
        </p:nvSpPr>
        <p:spPr>
          <a:xfrm>
            <a:off x="513017" y="2849816"/>
            <a:ext cx="10756345" cy="1020445"/>
          </a:xfrm>
          <a:prstGeom prst="rect">
            <a:avLst/>
          </a:prstGeom>
        </p:spPr>
        <p:txBody>
          <a:bodyPr lIns="0" tIns="0" rIns="0" bIns="0" rtlCol="0" anchor="t">
            <a:spAutoFit/>
          </a:bodyPr>
          <a:lstStyle/>
          <a:p>
            <a:pPr marL="561341" lvl="1" indent="-280670" algn="l">
              <a:lnSpc>
                <a:spcPts val="4160"/>
              </a:lnSpc>
              <a:buFont typeface="Arial"/>
              <a:buChar char="•"/>
            </a:pPr>
            <a:r>
              <a:rPr lang="en-US" sz="2600">
                <a:solidFill>
                  <a:srgbClr val="FFFFFF"/>
                </a:solidFill>
                <a:latin typeface="Open Sans"/>
                <a:ea typeface="Open Sans"/>
                <a:cs typeface="Open Sans"/>
                <a:sym typeface="Open Sans"/>
              </a:rPr>
              <a:t> Extract hierarchical features: edges → shapes → complete objects</a:t>
            </a:r>
          </a:p>
          <a:p>
            <a:pPr marL="561341" lvl="1" indent="-280670" algn="l">
              <a:lnSpc>
                <a:spcPts val="4160"/>
              </a:lnSpc>
              <a:buFont typeface="Arial"/>
              <a:buChar char="•"/>
            </a:pPr>
            <a:r>
              <a:rPr lang="en-US" sz="2600">
                <a:solidFill>
                  <a:srgbClr val="FFFFFF"/>
                </a:solidFill>
                <a:latin typeface="Open Sans"/>
                <a:ea typeface="Open Sans"/>
                <a:cs typeface="Open Sans"/>
                <a:sym typeface="Open Sans"/>
              </a:rPr>
              <a:t> Robust to lighting changes, noise, and partial occlusion</a:t>
            </a:r>
          </a:p>
        </p:txBody>
      </p:sp>
      <p:grpSp>
        <p:nvGrpSpPr>
          <p:cNvPr id="10" name="Group 10"/>
          <p:cNvGrpSpPr/>
          <p:nvPr/>
        </p:nvGrpSpPr>
        <p:grpSpPr>
          <a:xfrm>
            <a:off x="11794464" y="0"/>
            <a:ext cx="6493536" cy="10287000"/>
            <a:chOff x="0" y="0"/>
            <a:chExt cx="804815" cy="1274980"/>
          </a:xfrm>
        </p:grpSpPr>
        <p:sp>
          <p:nvSpPr>
            <p:cNvPr id="11" name="Freeform 11"/>
            <p:cNvSpPr/>
            <p:nvPr/>
          </p:nvSpPr>
          <p:spPr>
            <a:xfrm>
              <a:off x="0" y="0"/>
              <a:ext cx="804815" cy="1274980"/>
            </a:xfrm>
            <a:custGeom>
              <a:avLst/>
              <a:gdLst/>
              <a:ahLst/>
              <a:cxnLst/>
              <a:rect l="l" t="t" r="r" b="b"/>
              <a:pathLst>
                <a:path w="804815" h="1274980">
                  <a:moveTo>
                    <a:pt x="0" y="0"/>
                  </a:moveTo>
                  <a:lnTo>
                    <a:pt x="804815" y="0"/>
                  </a:lnTo>
                  <a:lnTo>
                    <a:pt x="804815" y="1274980"/>
                  </a:lnTo>
                  <a:lnTo>
                    <a:pt x="0" y="1274980"/>
                  </a:lnTo>
                  <a:close/>
                </a:path>
              </a:pathLst>
            </a:custGeom>
            <a:blipFill>
              <a:blip r:embed="rId4"/>
              <a:stretch>
                <a:fillRect l="-29209" r="-29209"/>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2817393" y="-992153"/>
            <a:ext cx="17642855" cy="7248273"/>
          </a:xfrm>
          <a:custGeom>
            <a:avLst/>
            <a:gdLst/>
            <a:ahLst/>
            <a:cxnLst/>
            <a:rect l="l" t="t" r="r" b="b"/>
            <a:pathLst>
              <a:path w="17642855" h="7248273">
                <a:moveTo>
                  <a:pt x="17642855" y="7248272"/>
                </a:moveTo>
                <a:lnTo>
                  <a:pt x="0" y="7248272"/>
                </a:lnTo>
                <a:lnTo>
                  <a:pt x="0" y="0"/>
                </a:lnTo>
                <a:lnTo>
                  <a:pt x="17642855" y="0"/>
                </a:lnTo>
                <a:lnTo>
                  <a:pt x="17642855" y="7248272"/>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339256" y="1977021"/>
            <a:ext cx="11862553" cy="7821406"/>
            <a:chOff x="0" y="0"/>
            <a:chExt cx="1232756" cy="812800"/>
          </a:xfrm>
        </p:grpSpPr>
        <p:sp>
          <p:nvSpPr>
            <p:cNvPr id="4" name="Freeform 4"/>
            <p:cNvSpPr/>
            <p:nvPr/>
          </p:nvSpPr>
          <p:spPr>
            <a:xfrm>
              <a:off x="0" y="0"/>
              <a:ext cx="1232756" cy="812800"/>
            </a:xfrm>
            <a:custGeom>
              <a:avLst/>
              <a:gdLst/>
              <a:ahLst/>
              <a:cxnLst/>
              <a:rect l="l" t="t" r="r" b="b"/>
              <a:pathLst>
                <a:path w="1232756" h="812800">
                  <a:moveTo>
                    <a:pt x="0" y="0"/>
                  </a:moveTo>
                  <a:lnTo>
                    <a:pt x="1232756" y="0"/>
                  </a:lnTo>
                  <a:lnTo>
                    <a:pt x="1232756" y="812800"/>
                  </a:lnTo>
                  <a:lnTo>
                    <a:pt x="0" y="812800"/>
                  </a:lnTo>
                  <a:close/>
                </a:path>
              </a:pathLst>
            </a:custGeom>
            <a:blipFill>
              <a:blip r:embed="rId4"/>
              <a:stretch>
                <a:fillRect t="-333" b="-333"/>
              </a:stretch>
            </a:blipFill>
          </p:spPr>
        </p:sp>
      </p:grpSp>
      <p:sp>
        <p:nvSpPr>
          <p:cNvPr id="5" name="TextBox 5"/>
          <p:cNvSpPr txBox="1"/>
          <p:nvPr/>
        </p:nvSpPr>
        <p:spPr>
          <a:xfrm>
            <a:off x="615401" y="305950"/>
            <a:ext cx="9124887" cy="1321675"/>
          </a:xfrm>
          <a:prstGeom prst="rect">
            <a:avLst/>
          </a:prstGeom>
        </p:spPr>
        <p:txBody>
          <a:bodyPr lIns="0" tIns="0" rIns="0" bIns="0" rtlCol="0" anchor="t">
            <a:spAutoFit/>
          </a:bodyPr>
          <a:lstStyle/>
          <a:p>
            <a:pPr algn="l">
              <a:lnSpc>
                <a:spcPts val="5472"/>
              </a:lnSpc>
            </a:pPr>
            <a:r>
              <a:rPr lang="en-US" sz="3420" b="1">
                <a:solidFill>
                  <a:srgbClr val="FFFFFF"/>
                </a:solidFill>
                <a:latin typeface="Open Sans Bold"/>
                <a:ea typeface="Open Sans Bold"/>
                <a:cs typeface="Open Sans Bold"/>
                <a:sym typeface="Open Sans Bold"/>
              </a:rPr>
              <a:t>MOST COMMON MODELS IN OBJECT DETECTION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339301" y="-1102116"/>
            <a:ext cx="17248474" cy="7086248"/>
          </a:xfrm>
          <a:custGeom>
            <a:avLst/>
            <a:gdLst/>
            <a:ahLst/>
            <a:cxnLst/>
            <a:rect l="l" t="t" r="r" b="b"/>
            <a:pathLst>
              <a:path w="17248474" h="7086248">
                <a:moveTo>
                  <a:pt x="17248474" y="7086248"/>
                </a:moveTo>
                <a:lnTo>
                  <a:pt x="0" y="7086248"/>
                </a:lnTo>
                <a:lnTo>
                  <a:pt x="0" y="0"/>
                </a:lnTo>
                <a:lnTo>
                  <a:pt x="17248474" y="0"/>
                </a:lnTo>
                <a:lnTo>
                  <a:pt x="17248474" y="7086248"/>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775414" y="0"/>
            <a:ext cx="6493536" cy="10287000"/>
            <a:chOff x="0" y="0"/>
            <a:chExt cx="804815" cy="1274980"/>
          </a:xfrm>
        </p:grpSpPr>
        <p:sp>
          <p:nvSpPr>
            <p:cNvPr id="4" name="Freeform 4"/>
            <p:cNvSpPr/>
            <p:nvPr/>
          </p:nvSpPr>
          <p:spPr>
            <a:xfrm>
              <a:off x="0" y="0"/>
              <a:ext cx="804815" cy="1274980"/>
            </a:xfrm>
            <a:custGeom>
              <a:avLst/>
              <a:gdLst/>
              <a:ahLst/>
              <a:cxnLst/>
              <a:rect l="l" t="t" r="r" b="b"/>
              <a:pathLst>
                <a:path w="804815" h="1274980">
                  <a:moveTo>
                    <a:pt x="0" y="0"/>
                  </a:moveTo>
                  <a:lnTo>
                    <a:pt x="804815" y="0"/>
                  </a:lnTo>
                  <a:lnTo>
                    <a:pt x="804815" y="1274980"/>
                  </a:lnTo>
                  <a:lnTo>
                    <a:pt x="0" y="1274980"/>
                  </a:lnTo>
                  <a:close/>
                </a:path>
              </a:pathLst>
            </a:custGeom>
            <a:blipFill>
              <a:blip r:embed="rId4"/>
              <a:stretch>
                <a:fillRect l="-29209" r="-29209"/>
              </a:stretch>
            </a:blipFill>
          </p:spPr>
        </p:sp>
      </p:grpSp>
      <p:sp>
        <p:nvSpPr>
          <p:cNvPr id="5" name="TextBox 5"/>
          <p:cNvSpPr txBox="1"/>
          <p:nvPr/>
        </p:nvSpPr>
        <p:spPr>
          <a:xfrm>
            <a:off x="511982" y="915838"/>
            <a:ext cx="9124887" cy="877450"/>
          </a:xfrm>
          <a:prstGeom prst="rect">
            <a:avLst/>
          </a:prstGeom>
        </p:spPr>
        <p:txBody>
          <a:bodyPr lIns="0" tIns="0" rIns="0" bIns="0" rtlCol="0" anchor="t">
            <a:spAutoFit/>
          </a:bodyPr>
          <a:lstStyle/>
          <a:p>
            <a:pPr algn="just">
              <a:lnSpc>
                <a:spcPts val="3420"/>
              </a:lnSpc>
            </a:pPr>
            <a:r>
              <a:rPr lang="en-US" sz="3420" b="1" spc="-3">
                <a:solidFill>
                  <a:srgbClr val="FFFFFF"/>
                </a:solidFill>
                <a:latin typeface="Open Sans Bold"/>
                <a:ea typeface="Open Sans Bold"/>
                <a:cs typeface="Open Sans Bold"/>
                <a:sym typeface="Open Sans Bold"/>
              </a:rPr>
              <a:t>SURVEY OF CORE AUTONOMOUS DRIVING COMPONENTS</a:t>
            </a:r>
          </a:p>
        </p:txBody>
      </p:sp>
      <p:sp>
        <p:nvSpPr>
          <p:cNvPr id="6" name="TextBox 6"/>
          <p:cNvSpPr txBox="1"/>
          <p:nvPr/>
        </p:nvSpPr>
        <p:spPr>
          <a:xfrm>
            <a:off x="511982" y="2435279"/>
            <a:ext cx="10643100" cy="3808669"/>
          </a:xfrm>
          <a:prstGeom prst="rect">
            <a:avLst/>
          </a:prstGeom>
        </p:spPr>
        <p:txBody>
          <a:bodyPr lIns="0" tIns="0" rIns="0" bIns="0" rtlCol="0" anchor="t">
            <a:spAutoFit/>
          </a:bodyPr>
          <a:lstStyle/>
          <a:p>
            <a:pPr algn="just">
              <a:lnSpc>
                <a:spcPts val="4626"/>
              </a:lnSpc>
            </a:pPr>
            <a:r>
              <a:rPr lang="en-US" sz="2614" b="1">
                <a:solidFill>
                  <a:srgbClr val="FFFFFF"/>
                </a:solidFill>
                <a:latin typeface="Open Sans Bold"/>
                <a:ea typeface="Open Sans Bold"/>
                <a:cs typeface="Open Sans Bold"/>
                <a:sym typeface="Open Sans Bold"/>
              </a:rPr>
              <a:t>How Cars Make Decisions</a:t>
            </a:r>
          </a:p>
          <a:p>
            <a:pPr marL="564364" lvl="1" indent="-282182" algn="just">
              <a:lnSpc>
                <a:spcPts val="3659"/>
              </a:lnSpc>
              <a:buFont typeface="Arial"/>
              <a:buChar char="•"/>
            </a:pPr>
            <a:r>
              <a:rPr lang="en-US" sz="2614">
                <a:solidFill>
                  <a:srgbClr val="FFFFFF"/>
                </a:solidFill>
                <a:latin typeface="Open Sans"/>
                <a:ea typeface="Open Sans"/>
                <a:cs typeface="Open Sans"/>
                <a:sym typeface="Open Sans"/>
              </a:rPr>
              <a:t>Rule-Based Systems: Traditionally, many autonomous driving systems rely on rule-based approaches to make driving decisions.</a:t>
            </a:r>
          </a:p>
          <a:p>
            <a:pPr algn="just">
              <a:lnSpc>
                <a:spcPts val="3659"/>
              </a:lnSpc>
            </a:pPr>
            <a:endParaRPr lang="en-US" sz="2614">
              <a:solidFill>
                <a:srgbClr val="FFFFFF"/>
              </a:solidFill>
              <a:latin typeface="Open Sans"/>
              <a:ea typeface="Open Sans"/>
              <a:cs typeface="Open Sans"/>
              <a:sym typeface="Open Sans"/>
            </a:endParaRPr>
          </a:p>
          <a:p>
            <a:pPr marL="564364" lvl="1" indent="-282182" algn="just">
              <a:lnSpc>
                <a:spcPts val="3659"/>
              </a:lnSpc>
              <a:buFont typeface="Arial"/>
              <a:buChar char="•"/>
            </a:pPr>
            <a:r>
              <a:rPr lang="en-US" sz="2614" u="none" strike="noStrike">
                <a:solidFill>
                  <a:srgbClr val="FFFFFF"/>
                </a:solidFill>
                <a:latin typeface="Open Sans"/>
                <a:ea typeface="Open Sans"/>
                <a:cs typeface="Open Sans"/>
                <a:sym typeface="Open Sans"/>
              </a:rPr>
              <a:t>Reinforcement Learning (RL): In advanced autonomous systems, Deep Q-Networks (DQN) are used to learn how to drive safely and efficiently by maximizing rewards for good actions.</a:t>
            </a:r>
          </a:p>
        </p:txBody>
      </p:sp>
      <p:sp>
        <p:nvSpPr>
          <p:cNvPr id="7" name="TextBox 7"/>
          <p:cNvSpPr txBox="1"/>
          <p:nvPr/>
        </p:nvSpPr>
        <p:spPr>
          <a:xfrm>
            <a:off x="966002" y="6981189"/>
            <a:ext cx="9735060" cy="2277111"/>
          </a:xfrm>
          <a:prstGeom prst="rect">
            <a:avLst/>
          </a:prstGeom>
        </p:spPr>
        <p:txBody>
          <a:bodyPr lIns="0" tIns="0" rIns="0" bIns="0" rtlCol="0" anchor="t">
            <a:spAutoFit/>
          </a:bodyPr>
          <a:lstStyle/>
          <a:p>
            <a:pPr algn="just">
              <a:lnSpc>
                <a:spcPts val="3639"/>
              </a:lnSpc>
            </a:pPr>
            <a:r>
              <a:rPr lang="en-US" sz="2599" b="1">
                <a:solidFill>
                  <a:srgbClr val="FFFFFF"/>
                </a:solidFill>
                <a:latin typeface="Open Sans Bold"/>
                <a:ea typeface="Open Sans Bold"/>
                <a:cs typeface="Open Sans Bold"/>
                <a:sym typeface="Open Sans Bold"/>
              </a:rPr>
              <a:t>Hardwar</a:t>
            </a:r>
            <a:r>
              <a:rPr lang="en-US" sz="2599" b="1" u="none" strike="noStrike">
                <a:solidFill>
                  <a:srgbClr val="FFFFFF"/>
                </a:solidFill>
                <a:latin typeface="Open Sans Bold"/>
                <a:ea typeface="Open Sans Bold"/>
                <a:cs typeface="Open Sans Bold"/>
                <a:sym typeface="Open Sans Bold"/>
              </a:rPr>
              <a:t>e Used</a:t>
            </a:r>
          </a:p>
          <a:p>
            <a:pPr marL="561336" lvl="1" indent="-280668" algn="just">
              <a:lnSpc>
                <a:spcPts val="3639"/>
              </a:lnSpc>
              <a:buFont typeface="Arial"/>
              <a:buChar char="•"/>
            </a:pPr>
            <a:r>
              <a:rPr lang="en-US" sz="2599" u="none" strike="noStrike">
                <a:solidFill>
                  <a:srgbClr val="FFFFFF"/>
                </a:solidFill>
                <a:latin typeface="Open Sans"/>
                <a:ea typeface="Open Sans"/>
                <a:cs typeface="Open Sans"/>
                <a:sym typeface="Open Sans"/>
              </a:rPr>
              <a:t>Low-Cost Embedded Systems: Many prototypes utilize accessible, affordable hardware like Raspberry Pi as the processing unit, paired with simple Cameras and Ultrasonic Sensors.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0D29"/>
        </a:solidFill>
        <a:effectLst/>
      </p:bgPr>
    </p:bg>
    <p:spTree>
      <p:nvGrpSpPr>
        <p:cNvPr id="1" name=""/>
        <p:cNvGrpSpPr/>
        <p:nvPr/>
      </p:nvGrpSpPr>
      <p:grpSpPr>
        <a:xfrm>
          <a:off x="0" y="0"/>
          <a:ext cx="0" cy="0"/>
          <a:chOff x="0" y="0"/>
          <a:chExt cx="0" cy="0"/>
        </a:xfrm>
      </p:grpSpPr>
      <p:sp>
        <p:nvSpPr>
          <p:cNvPr id="2" name="TextBox 2"/>
          <p:cNvSpPr txBox="1"/>
          <p:nvPr/>
        </p:nvSpPr>
        <p:spPr>
          <a:xfrm>
            <a:off x="625414" y="1123950"/>
            <a:ext cx="9230697" cy="1351794"/>
          </a:xfrm>
          <a:prstGeom prst="rect">
            <a:avLst/>
          </a:prstGeom>
        </p:spPr>
        <p:txBody>
          <a:bodyPr lIns="0" tIns="0" rIns="0" bIns="0" rtlCol="0" anchor="t">
            <a:spAutoFit/>
          </a:bodyPr>
          <a:lstStyle/>
          <a:p>
            <a:pPr marL="0" lvl="0" indent="0" algn="just">
              <a:lnSpc>
                <a:spcPts val="5220"/>
              </a:lnSpc>
              <a:spcBef>
                <a:spcPct val="0"/>
              </a:spcBef>
            </a:pPr>
            <a:r>
              <a:rPr lang="en-US" sz="5220" b="1" spc="-5">
                <a:solidFill>
                  <a:srgbClr val="FFFFFF"/>
                </a:solidFill>
                <a:latin typeface="Open Sans Bold"/>
                <a:ea typeface="Open Sans Bold"/>
                <a:cs typeface="Open Sans Bold"/>
                <a:sym typeface="Open Sans Bold"/>
              </a:rPr>
              <a:t>WHAT MAKES OUR PROJECT DIFFERENT</a:t>
            </a:r>
            <a:r>
              <a:rPr lang="en-US" sz="5220" b="1" u="none" strike="noStrike" spc="-5">
                <a:solidFill>
                  <a:srgbClr val="FFFFFF"/>
                </a:solidFill>
                <a:latin typeface="Open Sans Bold"/>
                <a:ea typeface="Open Sans Bold"/>
                <a:cs typeface="Open Sans Bold"/>
                <a:sym typeface="Open Sans Bold"/>
              </a:rPr>
              <a:t> </a:t>
            </a:r>
          </a:p>
        </p:txBody>
      </p:sp>
      <p:sp>
        <p:nvSpPr>
          <p:cNvPr id="3" name="TextBox 3"/>
          <p:cNvSpPr txBox="1"/>
          <p:nvPr/>
        </p:nvSpPr>
        <p:spPr>
          <a:xfrm>
            <a:off x="341279" y="2878454"/>
            <a:ext cx="9355860" cy="4425316"/>
          </a:xfrm>
          <a:prstGeom prst="rect">
            <a:avLst/>
          </a:prstGeom>
        </p:spPr>
        <p:txBody>
          <a:bodyPr lIns="0" tIns="0" rIns="0" bIns="0" rtlCol="0" anchor="t">
            <a:spAutoFit/>
          </a:bodyPr>
          <a:lstStyle/>
          <a:p>
            <a:pPr marL="604515" lvl="1" indent="-302257" algn="just">
              <a:lnSpc>
                <a:spcPts val="4479"/>
              </a:lnSpc>
              <a:buFont typeface="Arial"/>
              <a:buChar char="•"/>
            </a:pPr>
            <a:r>
              <a:rPr lang="en-US" sz="2799">
                <a:solidFill>
                  <a:srgbClr val="FFFFFF"/>
                </a:solidFill>
                <a:latin typeface="Open Sans"/>
                <a:ea typeface="Open Sans"/>
                <a:cs typeface="Open Sans"/>
                <a:sym typeface="Open Sans"/>
              </a:rPr>
              <a:t>Unlike most existing works that focus on only one aspect or detect specific objects, our project combines object detection, obstacle avoidance, decision-making, and real-time hardware implementation, using camera input and AI models to recognize multiple object types simultaneously for more complete autonomous perception.</a:t>
            </a:r>
          </a:p>
          <a:p>
            <a:pPr algn="just">
              <a:lnSpc>
                <a:spcPts val="4159"/>
              </a:lnSpc>
            </a:pPr>
            <a:endParaRPr lang="en-US" sz="2799">
              <a:solidFill>
                <a:srgbClr val="FFFFFF"/>
              </a:solidFill>
              <a:latin typeface="Open Sans"/>
              <a:ea typeface="Open Sans"/>
              <a:cs typeface="Open Sans"/>
              <a:sym typeface="Open Sans"/>
            </a:endParaRPr>
          </a:p>
        </p:txBody>
      </p:sp>
      <p:sp>
        <p:nvSpPr>
          <p:cNvPr id="4" name="Freeform 4"/>
          <p:cNvSpPr/>
          <p:nvPr/>
        </p:nvSpPr>
        <p:spPr>
          <a:xfrm flipH="1" flipV="1">
            <a:off x="3583120" y="-1847918"/>
            <a:ext cx="17642855" cy="7248273"/>
          </a:xfrm>
          <a:custGeom>
            <a:avLst/>
            <a:gdLst/>
            <a:ahLst/>
            <a:cxnLst/>
            <a:rect l="l" t="t" r="r" b="b"/>
            <a:pathLst>
              <a:path w="17642855" h="7248273">
                <a:moveTo>
                  <a:pt x="17642855" y="7248273"/>
                </a:moveTo>
                <a:lnTo>
                  <a:pt x="0" y="7248273"/>
                </a:lnTo>
                <a:lnTo>
                  <a:pt x="0" y="0"/>
                </a:lnTo>
                <a:lnTo>
                  <a:pt x="17642855" y="0"/>
                </a:lnTo>
                <a:lnTo>
                  <a:pt x="17642855" y="7248273"/>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4504291" y="2034035"/>
            <a:ext cx="3143972" cy="2826048"/>
            <a:chOff x="0" y="0"/>
            <a:chExt cx="1039498" cy="934382"/>
          </a:xfrm>
        </p:grpSpPr>
        <p:sp>
          <p:nvSpPr>
            <p:cNvPr id="6" name="Freeform 6"/>
            <p:cNvSpPr/>
            <p:nvPr/>
          </p:nvSpPr>
          <p:spPr>
            <a:xfrm>
              <a:off x="0" y="0"/>
              <a:ext cx="1039498" cy="934382"/>
            </a:xfrm>
            <a:custGeom>
              <a:avLst/>
              <a:gdLst/>
              <a:ahLst/>
              <a:cxnLst/>
              <a:rect l="l" t="t" r="r" b="b"/>
              <a:pathLst>
                <a:path w="1039498" h="934382">
                  <a:moveTo>
                    <a:pt x="73874" y="0"/>
                  </a:moveTo>
                  <a:lnTo>
                    <a:pt x="965624" y="0"/>
                  </a:lnTo>
                  <a:cubicBezTo>
                    <a:pt x="1006424" y="0"/>
                    <a:pt x="1039498" y="33074"/>
                    <a:pt x="1039498" y="73874"/>
                  </a:cubicBezTo>
                  <a:lnTo>
                    <a:pt x="1039498" y="860508"/>
                  </a:lnTo>
                  <a:cubicBezTo>
                    <a:pt x="1039498" y="880101"/>
                    <a:pt x="1031715" y="898891"/>
                    <a:pt x="1017861" y="912745"/>
                  </a:cubicBezTo>
                  <a:cubicBezTo>
                    <a:pt x="1004007" y="926599"/>
                    <a:pt x="985217" y="934382"/>
                    <a:pt x="965624" y="934382"/>
                  </a:cubicBezTo>
                  <a:lnTo>
                    <a:pt x="73874" y="934382"/>
                  </a:lnTo>
                  <a:cubicBezTo>
                    <a:pt x="54281" y="934382"/>
                    <a:pt x="35491" y="926599"/>
                    <a:pt x="21637" y="912745"/>
                  </a:cubicBezTo>
                  <a:cubicBezTo>
                    <a:pt x="7783" y="898891"/>
                    <a:pt x="0" y="880101"/>
                    <a:pt x="0" y="860508"/>
                  </a:cubicBezTo>
                  <a:lnTo>
                    <a:pt x="0" y="73874"/>
                  </a:lnTo>
                  <a:cubicBezTo>
                    <a:pt x="0" y="54281"/>
                    <a:pt x="7783" y="35491"/>
                    <a:pt x="21637" y="21637"/>
                  </a:cubicBezTo>
                  <a:cubicBezTo>
                    <a:pt x="35491" y="7783"/>
                    <a:pt x="54281" y="0"/>
                    <a:pt x="73874" y="0"/>
                  </a:cubicBezTo>
                  <a:close/>
                </a:path>
              </a:pathLst>
            </a:custGeom>
            <a:blipFill>
              <a:blip r:embed="rId4"/>
              <a:stretch>
                <a:fillRect t="-3501" b="-3501"/>
              </a:stretch>
            </a:blipFill>
            <a:ln cap="rnd">
              <a:noFill/>
              <a:prstDash val="solid"/>
              <a:round/>
            </a:ln>
          </p:spPr>
        </p:sp>
      </p:grpSp>
      <p:grpSp>
        <p:nvGrpSpPr>
          <p:cNvPr id="7" name="Group 7"/>
          <p:cNvGrpSpPr/>
          <p:nvPr/>
        </p:nvGrpSpPr>
        <p:grpSpPr>
          <a:xfrm>
            <a:off x="11103144" y="6724777"/>
            <a:ext cx="3143972" cy="2996688"/>
            <a:chOff x="0" y="0"/>
            <a:chExt cx="1039498" cy="990801"/>
          </a:xfrm>
        </p:grpSpPr>
        <p:sp>
          <p:nvSpPr>
            <p:cNvPr id="8" name="Freeform 8"/>
            <p:cNvSpPr/>
            <p:nvPr/>
          </p:nvSpPr>
          <p:spPr>
            <a:xfrm>
              <a:off x="0" y="0"/>
              <a:ext cx="1039498" cy="990801"/>
            </a:xfrm>
            <a:custGeom>
              <a:avLst/>
              <a:gdLst/>
              <a:ahLst/>
              <a:cxnLst/>
              <a:rect l="l" t="t" r="r" b="b"/>
              <a:pathLst>
                <a:path w="1039498" h="990801">
                  <a:moveTo>
                    <a:pt x="73874" y="0"/>
                  </a:moveTo>
                  <a:lnTo>
                    <a:pt x="965624" y="0"/>
                  </a:lnTo>
                  <a:cubicBezTo>
                    <a:pt x="1006424" y="0"/>
                    <a:pt x="1039498" y="33074"/>
                    <a:pt x="1039498" y="73874"/>
                  </a:cubicBezTo>
                  <a:lnTo>
                    <a:pt x="1039498" y="916927"/>
                  </a:lnTo>
                  <a:cubicBezTo>
                    <a:pt x="1039498" y="936520"/>
                    <a:pt x="1031715" y="955310"/>
                    <a:pt x="1017861" y="969164"/>
                  </a:cubicBezTo>
                  <a:cubicBezTo>
                    <a:pt x="1004007" y="983018"/>
                    <a:pt x="985217" y="990801"/>
                    <a:pt x="965624" y="990801"/>
                  </a:cubicBezTo>
                  <a:lnTo>
                    <a:pt x="73874" y="990801"/>
                  </a:lnTo>
                  <a:cubicBezTo>
                    <a:pt x="54281" y="990801"/>
                    <a:pt x="35491" y="983018"/>
                    <a:pt x="21637" y="969164"/>
                  </a:cubicBezTo>
                  <a:cubicBezTo>
                    <a:pt x="7783" y="955310"/>
                    <a:pt x="0" y="936520"/>
                    <a:pt x="0" y="916927"/>
                  </a:cubicBezTo>
                  <a:lnTo>
                    <a:pt x="0" y="73874"/>
                  </a:lnTo>
                  <a:cubicBezTo>
                    <a:pt x="0" y="54281"/>
                    <a:pt x="7783" y="35491"/>
                    <a:pt x="21637" y="21637"/>
                  </a:cubicBezTo>
                  <a:cubicBezTo>
                    <a:pt x="35491" y="7783"/>
                    <a:pt x="54281" y="0"/>
                    <a:pt x="73874" y="0"/>
                  </a:cubicBezTo>
                  <a:close/>
                </a:path>
              </a:pathLst>
            </a:custGeom>
            <a:blipFill>
              <a:blip r:embed="rId5"/>
              <a:stretch>
                <a:fillRect t="-2457" b="-2457"/>
              </a:stretch>
            </a:blipFill>
            <a:ln cap="rnd">
              <a:noFill/>
              <a:prstDash val="solid"/>
              <a:round/>
            </a:ln>
          </p:spPr>
        </p:sp>
      </p:grpSp>
      <p:grpSp>
        <p:nvGrpSpPr>
          <p:cNvPr id="9" name="Group 9"/>
          <p:cNvGrpSpPr/>
          <p:nvPr/>
        </p:nvGrpSpPr>
        <p:grpSpPr>
          <a:xfrm>
            <a:off x="14504291" y="6724777"/>
            <a:ext cx="3143972" cy="2996688"/>
            <a:chOff x="0" y="0"/>
            <a:chExt cx="1039498" cy="990801"/>
          </a:xfrm>
        </p:grpSpPr>
        <p:sp>
          <p:nvSpPr>
            <p:cNvPr id="10" name="Freeform 10"/>
            <p:cNvSpPr/>
            <p:nvPr/>
          </p:nvSpPr>
          <p:spPr>
            <a:xfrm>
              <a:off x="0" y="0"/>
              <a:ext cx="1039498" cy="990801"/>
            </a:xfrm>
            <a:custGeom>
              <a:avLst/>
              <a:gdLst/>
              <a:ahLst/>
              <a:cxnLst/>
              <a:rect l="l" t="t" r="r" b="b"/>
              <a:pathLst>
                <a:path w="1039498" h="990801">
                  <a:moveTo>
                    <a:pt x="73874" y="0"/>
                  </a:moveTo>
                  <a:lnTo>
                    <a:pt x="965624" y="0"/>
                  </a:lnTo>
                  <a:cubicBezTo>
                    <a:pt x="1006424" y="0"/>
                    <a:pt x="1039498" y="33074"/>
                    <a:pt x="1039498" y="73874"/>
                  </a:cubicBezTo>
                  <a:lnTo>
                    <a:pt x="1039498" y="916927"/>
                  </a:lnTo>
                  <a:cubicBezTo>
                    <a:pt x="1039498" y="936520"/>
                    <a:pt x="1031715" y="955310"/>
                    <a:pt x="1017861" y="969164"/>
                  </a:cubicBezTo>
                  <a:cubicBezTo>
                    <a:pt x="1004007" y="983018"/>
                    <a:pt x="985217" y="990801"/>
                    <a:pt x="965624" y="990801"/>
                  </a:cubicBezTo>
                  <a:lnTo>
                    <a:pt x="73874" y="990801"/>
                  </a:lnTo>
                  <a:cubicBezTo>
                    <a:pt x="54281" y="990801"/>
                    <a:pt x="35491" y="983018"/>
                    <a:pt x="21637" y="969164"/>
                  </a:cubicBezTo>
                  <a:cubicBezTo>
                    <a:pt x="7783" y="955310"/>
                    <a:pt x="0" y="936520"/>
                    <a:pt x="0" y="916927"/>
                  </a:cubicBezTo>
                  <a:lnTo>
                    <a:pt x="0" y="73874"/>
                  </a:lnTo>
                  <a:cubicBezTo>
                    <a:pt x="0" y="54281"/>
                    <a:pt x="7783" y="35491"/>
                    <a:pt x="21637" y="21637"/>
                  </a:cubicBezTo>
                  <a:cubicBezTo>
                    <a:pt x="35491" y="7783"/>
                    <a:pt x="54281" y="0"/>
                    <a:pt x="73874" y="0"/>
                  </a:cubicBezTo>
                  <a:close/>
                </a:path>
              </a:pathLst>
            </a:custGeom>
            <a:blipFill>
              <a:blip r:embed="rId6"/>
              <a:stretch>
                <a:fillRect l="-21812" r="-21812"/>
              </a:stretch>
            </a:blipFill>
            <a:ln cap="rnd">
              <a:noFill/>
              <a:prstDash val="solid"/>
              <a:round/>
            </a:ln>
          </p:spPr>
        </p:sp>
      </p:grpSp>
      <p:grpSp>
        <p:nvGrpSpPr>
          <p:cNvPr id="11" name="Group 11"/>
          <p:cNvGrpSpPr/>
          <p:nvPr/>
        </p:nvGrpSpPr>
        <p:grpSpPr>
          <a:xfrm>
            <a:off x="11103144" y="2034035"/>
            <a:ext cx="3143972" cy="2996688"/>
            <a:chOff x="0" y="0"/>
            <a:chExt cx="1039498" cy="990801"/>
          </a:xfrm>
        </p:grpSpPr>
        <p:sp>
          <p:nvSpPr>
            <p:cNvPr id="12" name="Freeform 12"/>
            <p:cNvSpPr/>
            <p:nvPr/>
          </p:nvSpPr>
          <p:spPr>
            <a:xfrm>
              <a:off x="0" y="0"/>
              <a:ext cx="1039498" cy="990801"/>
            </a:xfrm>
            <a:custGeom>
              <a:avLst/>
              <a:gdLst/>
              <a:ahLst/>
              <a:cxnLst/>
              <a:rect l="l" t="t" r="r" b="b"/>
              <a:pathLst>
                <a:path w="1039498" h="990801">
                  <a:moveTo>
                    <a:pt x="73874" y="0"/>
                  </a:moveTo>
                  <a:lnTo>
                    <a:pt x="965624" y="0"/>
                  </a:lnTo>
                  <a:cubicBezTo>
                    <a:pt x="1006424" y="0"/>
                    <a:pt x="1039498" y="33074"/>
                    <a:pt x="1039498" y="73874"/>
                  </a:cubicBezTo>
                  <a:lnTo>
                    <a:pt x="1039498" y="916927"/>
                  </a:lnTo>
                  <a:cubicBezTo>
                    <a:pt x="1039498" y="936520"/>
                    <a:pt x="1031715" y="955310"/>
                    <a:pt x="1017861" y="969164"/>
                  </a:cubicBezTo>
                  <a:cubicBezTo>
                    <a:pt x="1004007" y="983018"/>
                    <a:pt x="985217" y="990801"/>
                    <a:pt x="965624" y="990801"/>
                  </a:cubicBezTo>
                  <a:lnTo>
                    <a:pt x="73874" y="990801"/>
                  </a:lnTo>
                  <a:cubicBezTo>
                    <a:pt x="54281" y="990801"/>
                    <a:pt x="35491" y="983018"/>
                    <a:pt x="21637" y="969164"/>
                  </a:cubicBezTo>
                  <a:cubicBezTo>
                    <a:pt x="7783" y="955310"/>
                    <a:pt x="0" y="936520"/>
                    <a:pt x="0" y="916927"/>
                  </a:cubicBezTo>
                  <a:lnTo>
                    <a:pt x="0" y="73874"/>
                  </a:lnTo>
                  <a:cubicBezTo>
                    <a:pt x="0" y="54281"/>
                    <a:pt x="7783" y="35491"/>
                    <a:pt x="21637" y="21637"/>
                  </a:cubicBezTo>
                  <a:cubicBezTo>
                    <a:pt x="35491" y="7783"/>
                    <a:pt x="54281" y="0"/>
                    <a:pt x="73874" y="0"/>
                  </a:cubicBezTo>
                  <a:close/>
                </a:path>
              </a:pathLst>
            </a:custGeom>
            <a:blipFill>
              <a:blip r:embed="rId7"/>
              <a:stretch>
                <a:fillRect l="-21665" r="-21665"/>
              </a:stretch>
            </a:blipFill>
            <a:ln cap="rnd">
              <a:noFill/>
              <a:prstDash val="solid"/>
              <a:round/>
            </a:ln>
          </p:spPr>
        </p:sp>
      </p:grpSp>
      <p:grpSp>
        <p:nvGrpSpPr>
          <p:cNvPr id="13" name="Group 13"/>
          <p:cNvGrpSpPr/>
          <p:nvPr/>
        </p:nvGrpSpPr>
        <p:grpSpPr>
          <a:xfrm>
            <a:off x="12675130" y="4410648"/>
            <a:ext cx="3143972" cy="2996688"/>
            <a:chOff x="0" y="0"/>
            <a:chExt cx="1039498" cy="990801"/>
          </a:xfrm>
        </p:grpSpPr>
        <p:sp>
          <p:nvSpPr>
            <p:cNvPr id="14" name="Freeform 14"/>
            <p:cNvSpPr/>
            <p:nvPr/>
          </p:nvSpPr>
          <p:spPr>
            <a:xfrm rot="-59999">
              <a:off x="-7619" y="-8048"/>
              <a:ext cx="1055107" cy="1006898"/>
            </a:xfrm>
            <a:custGeom>
              <a:avLst/>
              <a:gdLst/>
              <a:ahLst/>
              <a:cxnLst/>
              <a:rect l="l" t="t" r="r" b="b"/>
              <a:pathLst>
                <a:path w="1055107" h="1006898">
                  <a:moveTo>
                    <a:pt x="90207" y="342"/>
                  </a:moveTo>
                  <a:lnTo>
                    <a:pt x="981821" y="15905"/>
                  </a:lnTo>
                  <a:cubicBezTo>
                    <a:pt x="1022614" y="16617"/>
                    <a:pt x="1055107" y="50264"/>
                    <a:pt x="1054395" y="91057"/>
                  </a:cubicBezTo>
                  <a:lnTo>
                    <a:pt x="1039681" y="933982"/>
                  </a:lnTo>
                  <a:cubicBezTo>
                    <a:pt x="1039339" y="953572"/>
                    <a:pt x="1031230" y="972223"/>
                    <a:pt x="1017136" y="985833"/>
                  </a:cubicBezTo>
                  <a:cubicBezTo>
                    <a:pt x="1003042" y="999443"/>
                    <a:pt x="984119" y="1006897"/>
                    <a:pt x="964529" y="1006555"/>
                  </a:cubicBezTo>
                  <a:lnTo>
                    <a:pt x="72915" y="990992"/>
                  </a:lnTo>
                  <a:cubicBezTo>
                    <a:pt x="53325" y="990650"/>
                    <a:pt x="34674" y="982540"/>
                    <a:pt x="21064" y="968447"/>
                  </a:cubicBezTo>
                  <a:cubicBezTo>
                    <a:pt x="7454" y="954353"/>
                    <a:pt x="0" y="935430"/>
                    <a:pt x="342" y="915840"/>
                  </a:cubicBezTo>
                  <a:lnTo>
                    <a:pt x="15055" y="72915"/>
                  </a:lnTo>
                  <a:cubicBezTo>
                    <a:pt x="15397" y="53326"/>
                    <a:pt x="23507" y="34674"/>
                    <a:pt x="37600" y="21064"/>
                  </a:cubicBezTo>
                  <a:cubicBezTo>
                    <a:pt x="51694" y="7454"/>
                    <a:pt x="70617" y="0"/>
                    <a:pt x="90207" y="342"/>
                  </a:cubicBezTo>
                  <a:close/>
                </a:path>
              </a:pathLst>
            </a:custGeom>
            <a:blipFill>
              <a:blip r:embed="rId8"/>
              <a:stretch>
                <a:fillRect l="-61183" t="-12459" r="-1561" b="-988"/>
              </a:stretch>
            </a:blipFill>
            <a:ln cap="rnd">
              <a:noFill/>
              <a:prstDash val="solid"/>
              <a:round/>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10D29"/>
        </a:solidFill>
        <a:effectLst/>
      </p:bgPr>
    </p:bg>
    <p:spTree>
      <p:nvGrpSpPr>
        <p:cNvPr id="1" name=""/>
        <p:cNvGrpSpPr/>
        <p:nvPr/>
      </p:nvGrpSpPr>
      <p:grpSpPr>
        <a:xfrm>
          <a:off x="0" y="0"/>
          <a:ext cx="0" cy="0"/>
          <a:chOff x="0" y="0"/>
          <a:chExt cx="0" cy="0"/>
        </a:xfrm>
      </p:grpSpPr>
      <p:sp>
        <p:nvSpPr>
          <p:cNvPr id="2" name="TextBox 2"/>
          <p:cNvSpPr txBox="1"/>
          <p:nvPr/>
        </p:nvSpPr>
        <p:spPr>
          <a:xfrm>
            <a:off x="488459" y="3192438"/>
            <a:ext cx="8005503" cy="2592070"/>
          </a:xfrm>
          <a:prstGeom prst="rect">
            <a:avLst/>
          </a:prstGeom>
        </p:spPr>
        <p:txBody>
          <a:bodyPr lIns="0" tIns="0" rIns="0" bIns="0" rtlCol="0" anchor="t">
            <a:spAutoFit/>
          </a:bodyPr>
          <a:lstStyle/>
          <a:p>
            <a:pPr algn="l">
              <a:lnSpc>
                <a:spcPts val="4160"/>
              </a:lnSpc>
            </a:pPr>
            <a:r>
              <a:rPr lang="en-US" sz="2600">
                <a:solidFill>
                  <a:srgbClr val="FFFFFF"/>
                </a:solidFill>
                <a:latin typeface="Open Sans"/>
                <a:ea typeface="Open Sans"/>
                <a:cs typeface="Open Sans"/>
                <a:sym typeface="Open Sans"/>
              </a:rPr>
              <a:t>A self-driving car prototype capable of detecting multiple objects and making safe, real-time driving decisions such as stopping, steering, and speed control to achieve efficient and reliable autonomous navigation.</a:t>
            </a:r>
          </a:p>
        </p:txBody>
      </p:sp>
      <p:sp>
        <p:nvSpPr>
          <p:cNvPr id="3" name="TextBox 3"/>
          <p:cNvSpPr txBox="1"/>
          <p:nvPr/>
        </p:nvSpPr>
        <p:spPr>
          <a:xfrm>
            <a:off x="488459" y="2116142"/>
            <a:ext cx="8271415" cy="694563"/>
          </a:xfrm>
          <a:prstGeom prst="rect">
            <a:avLst/>
          </a:prstGeom>
        </p:spPr>
        <p:txBody>
          <a:bodyPr lIns="0" tIns="0" rIns="0" bIns="0" rtlCol="0" anchor="t">
            <a:spAutoFit/>
          </a:bodyPr>
          <a:lstStyle/>
          <a:p>
            <a:pPr algn="l">
              <a:lnSpc>
                <a:spcPts val="5220"/>
              </a:lnSpc>
              <a:spcBef>
                <a:spcPct val="0"/>
              </a:spcBef>
            </a:pPr>
            <a:r>
              <a:rPr lang="en-US" sz="5220" b="1" spc="-5">
                <a:solidFill>
                  <a:srgbClr val="FFFFFF"/>
                </a:solidFill>
                <a:latin typeface="Open Sans Bold"/>
                <a:ea typeface="Open Sans Bold"/>
                <a:cs typeface="Open Sans Bold"/>
                <a:sym typeface="Open Sans Bold"/>
              </a:rPr>
              <a:t>EXPECTED OUTCOME</a:t>
            </a:r>
          </a:p>
        </p:txBody>
      </p:sp>
      <p:sp>
        <p:nvSpPr>
          <p:cNvPr id="4" name="Freeform 4"/>
          <p:cNvSpPr/>
          <p:nvPr/>
        </p:nvSpPr>
        <p:spPr>
          <a:xfrm rot="-10800000" flipH="1" flipV="1">
            <a:off x="-3012281" y="3460379"/>
            <a:ext cx="17248474" cy="7086248"/>
          </a:xfrm>
          <a:custGeom>
            <a:avLst/>
            <a:gdLst/>
            <a:ahLst/>
            <a:cxnLst/>
            <a:rect l="l" t="t" r="r" b="b"/>
            <a:pathLst>
              <a:path w="17248474" h="7086248">
                <a:moveTo>
                  <a:pt x="17248474" y="7086248"/>
                </a:moveTo>
                <a:lnTo>
                  <a:pt x="0" y="7086248"/>
                </a:lnTo>
                <a:lnTo>
                  <a:pt x="0" y="0"/>
                </a:lnTo>
                <a:lnTo>
                  <a:pt x="17248474" y="0"/>
                </a:lnTo>
                <a:lnTo>
                  <a:pt x="17248474" y="7086248"/>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8759874" y="2310716"/>
            <a:ext cx="8499426" cy="6947584"/>
            <a:chOff x="0" y="0"/>
            <a:chExt cx="2882035" cy="2355827"/>
          </a:xfrm>
        </p:grpSpPr>
        <p:sp>
          <p:nvSpPr>
            <p:cNvPr id="6" name="Freeform 6"/>
            <p:cNvSpPr/>
            <p:nvPr/>
          </p:nvSpPr>
          <p:spPr>
            <a:xfrm>
              <a:off x="0" y="0"/>
              <a:ext cx="2882035" cy="2355827"/>
            </a:xfrm>
            <a:custGeom>
              <a:avLst/>
              <a:gdLst/>
              <a:ahLst/>
              <a:cxnLst/>
              <a:rect l="l" t="t" r="r" b="b"/>
              <a:pathLst>
                <a:path w="2882035" h="2355827">
                  <a:moveTo>
                    <a:pt x="12752" y="0"/>
                  </a:moveTo>
                  <a:lnTo>
                    <a:pt x="2869283" y="0"/>
                  </a:lnTo>
                  <a:cubicBezTo>
                    <a:pt x="2876326" y="0"/>
                    <a:pt x="2882035" y="5709"/>
                    <a:pt x="2882035" y="12752"/>
                  </a:cubicBezTo>
                  <a:lnTo>
                    <a:pt x="2882035" y="2343075"/>
                  </a:lnTo>
                  <a:cubicBezTo>
                    <a:pt x="2882035" y="2350118"/>
                    <a:pt x="2876326" y="2355827"/>
                    <a:pt x="2869283" y="2355827"/>
                  </a:cubicBezTo>
                  <a:lnTo>
                    <a:pt x="12752" y="2355827"/>
                  </a:lnTo>
                  <a:cubicBezTo>
                    <a:pt x="5709" y="2355827"/>
                    <a:pt x="0" y="2350118"/>
                    <a:pt x="0" y="2343075"/>
                  </a:cubicBezTo>
                  <a:lnTo>
                    <a:pt x="0" y="12752"/>
                  </a:lnTo>
                  <a:cubicBezTo>
                    <a:pt x="0" y="5709"/>
                    <a:pt x="5709" y="0"/>
                    <a:pt x="12752" y="0"/>
                  </a:cubicBezTo>
                  <a:close/>
                </a:path>
              </a:pathLst>
            </a:custGeom>
            <a:blipFill>
              <a:blip r:embed="rId4"/>
              <a:stretch>
                <a:fillRect l="-11418" r="-11418"/>
              </a:stretch>
            </a:blipFill>
            <a:ln cap="sq">
              <a:noFill/>
              <a:prstDash val="solid"/>
              <a:miter/>
            </a:ln>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754" b="-54023"/>
            </a:stretch>
          </a:blipFill>
        </p:spPr>
      </p:sp>
      <p:sp>
        <p:nvSpPr>
          <p:cNvPr id="3" name="Freeform 3"/>
          <p:cNvSpPr/>
          <p:nvPr/>
        </p:nvSpPr>
        <p:spPr>
          <a:xfrm rot="-6501988">
            <a:off x="-3682260" y="6773087"/>
            <a:ext cx="5968959" cy="5665085"/>
          </a:xfrm>
          <a:custGeom>
            <a:avLst/>
            <a:gdLst/>
            <a:ahLst/>
            <a:cxnLst/>
            <a:rect l="l" t="t" r="r" b="b"/>
            <a:pathLst>
              <a:path w="5968959" h="5665085">
                <a:moveTo>
                  <a:pt x="0" y="0"/>
                </a:moveTo>
                <a:lnTo>
                  <a:pt x="5968959" y="0"/>
                </a:lnTo>
                <a:lnTo>
                  <a:pt x="5968959" y="5665086"/>
                </a:lnTo>
                <a:lnTo>
                  <a:pt x="0" y="56650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5303520" y="-1803843"/>
            <a:ext cx="5968959" cy="5665085"/>
          </a:xfrm>
          <a:custGeom>
            <a:avLst/>
            <a:gdLst/>
            <a:ahLst/>
            <a:cxnLst/>
            <a:rect l="l" t="t" r="r" b="b"/>
            <a:pathLst>
              <a:path w="5968959" h="5665085">
                <a:moveTo>
                  <a:pt x="0" y="0"/>
                </a:moveTo>
                <a:lnTo>
                  <a:pt x="5968960" y="0"/>
                </a:lnTo>
                <a:lnTo>
                  <a:pt x="5968960" y="5665086"/>
                </a:lnTo>
                <a:lnTo>
                  <a:pt x="0" y="56650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436873" y="0"/>
            <a:ext cx="17642855" cy="7248273"/>
          </a:xfrm>
          <a:custGeom>
            <a:avLst/>
            <a:gdLst/>
            <a:ahLst/>
            <a:cxnLst/>
            <a:rect l="l" t="t" r="r" b="b"/>
            <a:pathLst>
              <a:path w="17642855" h="7248273">
                <a:moveTo>
                  <a:pt x="17642854" y="7248273"/>
                </a:moveTo>
                <a:lnTo>
                  <a:pt x="0" y="7248273"/>
                </a:lnTo>
                <a:lnTo>
                  <a:pt x="0" y="0"/>
                </a:lnTo>
                <a:lnTo>
                  <a:pt x="17642854" y="0"/>
                </a:lnTo>
                <a:lnTo>
                  <a:pt x="17642854" y="724827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36873" y="3099783"/>
            <a:ext cx="8821427" cy="5378772"/>
          </a:xfrm>
          <a:prstGeom prst="rect">
            <a:avLst/>
          </a:prstGeom>
        </p:spPr>
        <p:txBody>
          <a:bodyPr lIns="0" tIns="0" rIns="0" bIns="0" rtlCol="0" anchor="t">
            <a:spAutoFit/>
          </a:bodyPr>
          <a:lstStyle/>
          <a:p>
            <a:pPr algn="just">
              <a:lnSpc>
                <a:spcPts val="4246"/>
              </a:lnSpc>
            </a:pPr>
            <a:r>
              <a:rPr lang="en-US" sz="2654">
                <a:solidFill>
                  <a:srgbClr val="FFFFFF"/>
                </a:solidFill>
                <a:latin typeface="Open Sans"/>
                <a:ea typeface="Open Sans"/>
                <a:cs typeface="Open Sans"/>
                <a:sym typeface="Open Sans"/>
              </a:rPr>
              <a:t>🚗 </a:t>
            </a:r>
            <a:r>
              <a:rPr lang="en-US" sz="2654" b="1">
                <a:solidFill>
                  <a:srgbClr val="FFFFFF"/>
                </a:solidFill>
                <a:latin typeface="Open Sans Bold"/>
                <a:ea typeface="Open Sans Bold"/>
                <a:cs typeface="Open Sans Bold"/>
                <a:sym typeface="Open Sans Bold"/>
              </a:rPr>
              <a:t>Toy Cars</a:t>
            </a:r>
            <a:r>
              <a:rPr lang="en-US" sz="2654">
                <a:solidFill>
                  <a:srgbClr val="FFFFFF"/>
                </a:solidFill>
                <a:latin typeface="Open Sans"/>
                <a:ea typeface="Open Sans"/>
                <a:cs typeface="Open Sans"/>
                <a:sym typeface="Open Sans"/>
              </a:rPr>
              <a:t> </a:t>
            </a:r>
            <a:r>
              <a:rPr lang="en-US" sz="2654" b="1">
                <a:solidFill>
                  <a:srgbClr val="FFFFFF"/>
                </a:solidFill>
                <a:latin typeface="Open Sans Bold"/>
                <a:ea typeface="Open Sans Bold"/>
                <a:cs typeface="Open Sans Bold"/>
                <a:sym typeface="Open Sans Bold"/>
              </a:rPr>
              <a:t>Dataset</a:t>
            </a:r>
            <a:r>
              <a:rPr lang="en-US" sz="2654">
                <a:solidFill>
                  <a:srgbClr val="FFFFFF"/>
                </a:solidFill>
                <a:latin typeface="Open Sans"/>
                <a:ea typeface="Open Sans"/>
                <a:cs typeface="Open Sans"/>
                <a:sym typeface="Open Sans"/>
              </a:rPr>
              <a:t> – Represents real cars with different orientations, distances, and lighting.</a:t>
            </a:r>
          </a:p>
          <a:p>
            <a:pPr algn="just">
              <a:lnSpc>
                <a:spcPts val="4246"/>
              </a:lnSpc>
            </a:pPr>
            <a:r>
              <a:rPr lang="en-US" sz="2654">
                <a:solidFill>
                  <a:srgbClr val="FFFFFF"/>
                </a:solidFill>
                <a:latin typeface="Open Sans"/>
                <a:ea typeface="Open Sans"/>
                <a:cs typeface="Open Sans"/>
                <a:sym typeface="Open Sans"/>
              </a:rPr>
              <a:t>🧍‍♂ </a:t>
            </a:r>
            <a:r>
              <a:rPr lang="en-US" sz="2654" b="1">
                <a:solidFill>
                  <a:srgbClr val="FFFFFF"/>
                </a:solidFill>
                <a:latin typeface="Open Sans Bold"/>
                <a:ea typeface="Open Sans Bold"/>
                <a:cs typeface="Open Sans Bold"/>
                <a:sym typeface="Open Sans Bold"/>
              </a:rPr>
              <a:t>Lego Person Dataset</a:t>
            </a:r>
            <a:r>
              <a:rPr lang="en-US" sz="2654">
                <a:solidFill>
                  <a:srgbClr val="FFFFFF"/>
                </a:solidFill>
                <a:latin typeface="Open Sans"/>
                <a:ea typeface="Open Sans"/>
                <a:cs typeface="Open Sans"/>
                <a:sym typeface="Open Sans"/>
              </a:rPr>
              <a:t> – Simulates pedestrians cross</a:t>
            </a:r>
            <a:r>
              <a:rPr lang="en-US" sz="2654" u="none" strike="noStrike">
                <a:solidFill>
                  <a:srgbClr val="FFFFFF"/>
                </a:solidFill>
                <a:latin typeface="Open Sans"/>
                <a:ea typeface="Open Sans"/>
                <a:cs typeface="Open Sans"/>
                <a:sym typeface="Open Sans"/>
              </a:rPr>
              <a:t>ing or standing near the road.</a:t>
            </a:r>
          </a:p>
          <a:p>
            <a:pPr algn="just">
              <a:lnSpc>
                <a:spcPts val="4246"/>
              </a:lnSpc>
            </a:pPr>
            <a:r>
              <a:rPr lang="en-US" sz="2654" u="none" strike="noStrike">
                <a:solidFill>
                  <a:srgbClr val="FFFFFF"/>
                </a:solidFill>
                <a:latin typeface="Open Sans"/>
                <a:ea typeface="Open Sans"/>
                <a:cs typeface="Open Sans"/>
                <a:sym typeface="Open Sans"/>
              </a:rPr>
              <a:t>🛑</a:t>
            </a:r>
            <a:r>
              <a:rPr lang="en-US" sz="2654" b="1" u="none" strike="noStrike">
                <a:solidFill>
                  <a:srgbClr val="FFFFFF"/>
                </a:solidFill>
                <a:latin typeface="Open Sans Bold"/>
                <a:ea typeface="Open Sans Bold"/>
                <a:cs typeface="Open Sans Bold"/>
                <a:sym typeface="Open Sans Bold"/>
              </a:rPr>
              <a:t> Stop Sign Dataset</a:t>
            </a:r>
            <a:r>
              <a:rPr lang="en-US" sz="2654" u="none" strike="noStrike">
                <a:solidFill>
                  <a:srgbClr val="FFFFFF"/>
                </a:solidFill>
                <a:latin typeface="Open Sans"/>
                <a:ea typeface="Open Sans"/>
                <a:cs typeface="Open Sans"/>
                <a:sym typeface="Open Sans"/>
              </a:rPr>
              <a:t> – Used for traffic sign detection and decision-making.</a:t>
            </a:r>
          </a:p>
          <a:p>
            <a:pPr algn="just">
              <a:lnSpc>
                <a:spcPts val="4246"/>
              </a:lnSpc>
            </a:pPr>
            <a:r>
              <a:rPr lang="en-US" sz="2654" u="none" strike="noStrike">
                <a:solidFill>
                  <a:srgbClr val="FFFFFF"/>
                </a:solidFill>
                <a:latin typeface="Open Sans"/>
                <a:ea typeface="Open Sans"/>
                <a:cs typeface="Open Sans"/>
                <a:sym typeface="Open Sans"/>
              </a:rPr>
              <a:t>🚦 </a:t>
            </a:r>
            <a:r>
              <a:rPr lang="en-US" sz="2654" b="1" u="none" strike="noStrike">
                <a:solidFill>
                  <a:srgbClr val="FFFFFF"/>
                </a:solidFill>
                <a:latin typeface="Open Sans Bold"/>
                <a:ea typeface="Open Sans Bold"/>
                <a:cs typeface="Open Sans Bold"/>
                <a:sym typeface="Open Sans Bold"/>
              </a:rPr>
              <a:t>Traffic Light Dataset</a:t>
            </a:r>
            <a:r>
              <a:rPr lang="en-US" sz="2654" u="none" strike="noStrike">
                <a:solidFill>
                  <a:srgbClr val="FFFFFF"/>
                </a:solidFill>
                <a:latin typeface="Open Sans"/>
                <a:ea typeface="Open Sans"/>
                <a:cs typeface="Open Sans"/>
                <a:sym typeface="Open Sans"/>
              </a:rPr>
              <a:t> – Includes red, yellow, and green lights to train color-based traffic control recognition.</a:t>
            </a:r>
          </a:p>
          <a:p>
            <a:pPr marL="0" lvl="1" indent="0" algn="just">
              <a:lnSpc>
                <a:spcPts val="4600"/>
              </a:lnSpc>
            </a:pPr>
            <a:endParaRPr lang="en-US" sz="2654" u="none" strike="noStrike">
              <a:solidFill>
                <a:srgbClr val="FFFFFF"/>
              </a:solidFill>
              <a:latin typeface="Open Sans"/>
              <a:ea typeface="Open Sans"/>
              <a:cs typeface="Open Sans"/>
              <a:sym typeface="Open Sans"/>
            </a:endParaRPr>
          </a:p>
        </p:txBody>
      </p:sp>
      <p:sp>
        <p:nvSpPr>
          <p:cNvPr id="4" name="TextBox 4"/>
          <p:cNvSpPr txBox="1"/>
          <p:nvPr/>
        </p:nvSpPr>
        <p:spPr>
          <a:xfrm>
            <a:off x="436873" y="1992937"/>
            <a:ext cx="7849009" cy="694563"/>
          </a:xfrm>
          <a:prstGeom prst="rect">
            <a:avLst/>
          </a:prstGeom>
        </p:spPr>
        <p:txBody>
          <a:bodyPr lIns="0" tIns="0" rIns="0" bIns="0" rtlCol="0" anchor="t">
            <a:spAutoFit/>
          </a:bodyPr>
          <a:lstStyle/>
          <a:p>
            <a:pPr algn="just">
              <a:lnSpc>
                <a:spcPts val="5220"/>
              </a:lnSpc>
            </a:pPr>
            <a:r>
              <a:rPr lang="en-US" sz="5220" b="1" spc="-5">
                <a:solidFill>
                  <a:srgbClr val="FFFFFF"/>
                </a:solidFill>
                <a:latin typeface="Open Sans Bold"/>
                <a:ea typeface="Open Sans Bold"/>
                <a:cs typeface="Open Sans Bold"/>
                <a:sym typeface="Open Sans Bold"/>
              </a:rPr>
              <a:t>DATASETS</a:t>
            </a:r>
          </a:p>
        </p:txBody>
      </p:sp>
      <p:grpSp>
        <p:nvGrpSpPr>
          <p:cNvPr id="5" name="Group 5"/>
          <p:cNvGrpSpPr/>
          <p:nvPr/>
        </p:nvGrpSpPr>
        <p:grpSpPr>
          <a:xfrm>
            <a:off x="14060314" y="5143500"/>
            <a:ext cx="3745145" cy="3745145"/>
            <a:chOff x="0" y="0"/>
            <a:chExt cx="4993526" cy="4993526"/>
          </a:xfrm>
        </p:grpSpPr>
        <p:pic>
          <p:nvPicPr>
            <p:cNvPr id="6" name="Picture 6"/>
            <p:cNvPicPr>
              <a:picLocks noChangeAspect="1"/>
            </p:cNvPicPr>
            <p:nvPr/>
          </p:nvPicPr>
          <p:blipFill>
            <a:blip r:embed="rId4"/>
            <a:srcRect/>
            <a:stretch>
              <a:fillRect/>
            </a:stretch>
          </p:blipFill>
          <p:spPr>
            <a:xfrm>
              <a:off x="0" y="0"/>
              <a:ext cx="4993526" cy="4993526"/>
            </a:xfrm>
            <a:prstGeom prst="rect">
              <a:avLst/>
            </a:prstGeom>
          </p:spPr>
        </p:pic>
      </p:grpSp>
      <p:grpSp>
        <p:nvGrpSpPr>
          <p:cNvPr id="7" name="Group 7"/>
          <p:cNvGrpSpPr/>
          <p:nvPr/>
        </p:nvGrpSpPr>
        <p:grpSpPr>
          <a:xfrm>
            <a:off x="10087687" y="5143500"/>
            <a:ext cx="3745145" cy="3745145"/>
            <a:chOff x="0" y="0"/>
            <a:chExt cx="4993526" cy="4993526"/>
          </a:xfrm>
        </p:grpSpPr>
        <p:pic>
          <p:nvPicPr>
            <p:cNvPr id="8" name="Picture 8"/>
            <p:cNvPicPr>
              <a:picLocks noChangeAspect="1"/>
            </p:cNvPicPr>
            <p:nvPr/>
          </p:nvPicPr>
          <p:blipFill>
            <a:blip r:embed="rId5"/>
            <a:srcRect l="20349" t="-128" r="13650" b="948"/>
            <a:stretch>
              <a:fillRect/>
            </a:stretch>
          </p:blipFill>
          <p:spPr>
            <a:xfrm>
              <a:off x="0" y="0"/>
              <a:ext cx="4993526" cy="4993526"/>
            </a:xfrm>
            <a:prstGeom prst="rect">
              <a:avLst/>
            </a:prstGeom>
          </p:spPr>
        </p:pic>
      </p:grpSp>
      <p:grpSp>
        <p:nvGrpSpPr>
          <p:cNvPr id="9" name="Group 9"/>
          <p:cNvGrpSpPr/>
          <p:nvPr/>
        </p:nvGrpSpPr>
        <p:grpSpPr>
          <a:xfrm>
            <a:off x="10087687" y="1167053"/>
            <a:ext cx="3745145" cy="3745145"/>
            <a:chOff x="0" y="0"/>
            <a:chExt cx="4993526" cy="4993526"/>
          </a:xfrm>
        </p:grpSpPr>
        <p:pic>
          <p:nvPicPr>
            <p:cNvPr id="10" name="Picture 10"/>
            <p:cNvPicPr>
              <a:picLocks noChangeAspect="1"/>
            </p:cNvPicPr>
            <p:nvPr/>
          </p:nvPicPr>
          <p:blipFill>
            <a:blip r:embed="rId6"/>
            <a:srcRect l="15312" r="15312"/>
            <a:stretch>
              <a:fillRect/>
            </a:stretch>
          </p:blipFill>
          <p:spPr>
            <a:xfrm>
              <a:off x="0" y="0"/>
              <a:ext cx="4993526" cy="4993526"/>
            </a:xfrm>
            <a:prstGeom prst="rect">
              <a:avLst/>
            </a:prstGeom>
          </p:spPr>
        </p:pic>
      </p:grpSp>
      <p:grpSp>
        <p:nvGrpSpPr>
          <p:cNvPr id="11" name="Group 11"/>
          <p:cNvGrpSpPr/>
          <p:nvPr/>
        </p:nvGrpSpPr>
        <p:grpSpPr>
          <a:xfrm>
            <a:off x="14060314" y="1167053"/>
            <a:ext cx="3745145" cy="3745145"/>
            <a:chOff x="0" y="0"/>
            <a:chExt cx="4993526" cy="4993526"/>
          </a:xfrm>
        </p:grpSpPr>
        <p:pic>
          <p:nvPicPr>
            <p:cNvPr id="12" name="Picture 12"/>
            <p:cNvPicPr>
              <a:picLocks noChangeAspect="1"/>
            </p:cNvPicPr>
            <p:nvPr/>
          </p:nvPicPr>
          <p:blipFill>
            <a:blip r:embed="rId7"/>
            <a:srcRect l="767" t="767" r="767" b="767"/>
            <a:stretch>
              <a:fillRect/>
            </a:stretch>
          </p:blipFill>
          <p:spPr>
            <a:xfrm>
              <a:off x="0" y="0"/>
              <a:ext cx="4993526" cy="499352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723553" y="-1726450"/>
            <a:ext cx="17642855" cy="7248273"/>
          </a:xfrm>
          <a:custGeom>
            <a:avLst/>
            <a:gdLst/>
            <a:ahLst/>
            <a:cxnLst/>
            <a:rect l="l" t="t" r="r" b="b"/>
            <a:pathLst>
              <a:path w="17642855" h="7248273">
                <a:moveTo>
                  <a:pt x="17642854" y="7248273"/>
                </a:moveTo>
                <a:lnTo>
                  <a:pt x="0" y="7248273"/>
                </a:lnTo>
                <a:lnTo>
                  <a:pt x="0" y="0"/>
                </a:lnTo>
                <a:lnTo>
                  <a:pt x="17642854" y="0"/>
                </a:lnTo>
                <a:lnTo>
                  <a:pt x="17642854" y="724827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07512" y="2418732"/>
            <a:ext cx="9436118" cy="7281535"/>
          </a:xfrm>
          <a:prstGeom prst="rect">
            <a:avLst/>
          </a:prstGeom>
        </p:spPr>
        <p:txBody>
          <a:bodyPr lIns="0" tIns="0" rIns="0" bIns="0" rtlCol="0" anchor="t">
            <a:spAutoFit/>
          </a:bodyPr>
          <a:lstStyle/>
          <a:p>
            <a:pPr algn="just">
              <a:lnSpc>
                <a:spcPts val="4159"/>
              </a:lnSpc>
            </a:pPr>
            <a:r>
              <a:rPr lang="en-US" sz="2599" b="1">
                <a:solidFill>
                  <a:srgbClr val="FFFFFF"/>
                </a:solidFill>
                <a:latin typeface="Open Sans Bold"/>
                <a:ea typeface="Open Sans Bold"/>
                <a:cs typeface="Open Sans Bold"/>
                <a:sym typeface="Open Sans Bold"/>
              </a:rPr>
              <a:t>1. Image Resizing </a:t>
            </a:r>
          </a:p>
          <a:p>
            <a:pPr marL="561339" lvl="1" indent="-280669" algn="just">
              <a:lnSpc>
                <a:spcPts val="4159"/>
              </a:lnSpc>
              <a:buFont typeface="Arial"/>
              <a:buChar char="•"/>
            </a:pPr>
            <a:r>
              <a:rPr lang="en-US" sz="2599">
                <a:solidFill>
                  <a:srgbClr val="FFFFFF"/>
                </a:solidFill>
                <a:latin typeface="Open Sans"/>
                <a:ea typeface="Open Sans"/>
                <a:cs typeface="Open Sans"/>
                <a:sym typeface="Open Sans"/>
              </a:rPr>
              <a:t> All images were resized to 640×640 pixels (maintaining aspect ratio and padding the rest) to ensures consistent input size for the YOLO model while avoiding distortion that could affect object shapes and bounding boxes.</a:t>
            </a:r>
          </a:p>
          <a:p>
            <a:pPr algn="just">
              <a:lnSpc>
                <a:spcPts val="4159"/>
              </a:lnSpc>
            </a:pPr>
            <a:r>
              <a:rPr lang="en-US" sz="2599" b="1">
                <a:solidFill>
                  <a:srgbClr val="FFFFFF"/>
                </a:solidFill>
                <a:latin typeface="Open Sans Bold"/>
                <a:ea typeface="Open Sans Bold"/>
                <a:cs typeface="Open Sans Bold"/>
                <a:sym typeface="Open Sans Bold"/>
              </a:rPr>
              <a:t>2. Color Format Conversion</a:t>
            </a:r>
          </a:p>
          <a:p>
            <a:pPr marL="561339" lvl="1" indent="-280669" algn="just">
              <a:lnSpc>
                <a:spcPts val="4159"/>
              </a:lnSpc>
              <a:buFont typeface="Arial"/>
              <a:buChar char="•"/>
            </a:pPr>
            <a:r>
              <a:rPr lang="en-US" sz="2599">
                <a:solidFill>
                  <a:srgbClr val="FFFFFF"/>
                </a:solidFill>
                <a:latin typeface="Open Sans"/>
                <a:ea typeface="Open Sans"/>
                <a:cs typeface="Open Sans"/>
                <a:sym typeface="Open Sans"/>
              </a:rPr>
              <a:t> Converted all images from BGR to RGB format as YOLO and most deep learning frameworks expect RGB format for accurate color interpretation, especially important for traffic light colors.</a:t>
            </a:r>
          </a:p>
          <a:p>
            <a:pPr algn="just">
              <a:lnSpc>
                <a:spcPts val="4159"/>
              </a:lnSpc>
            </a:pPr>
            <a:r>
              <a:rPr lang="en-US" sz="2599" b="1">
                <a:solidFill>
                  <a:srgbClr val="FFFFFF"/>
                </a:solidFill>
                <a:latin typeface="Open Sans Bold"/>
                <a:ea typeface="Open Sans Bold"/>
                <a:cs typeface="Open Sans Bold"/>
                <a:sym typeface="Open Sans Bold"/>
              </a:rPr>
              <a:t>3. Data Normalization</a:t>
            </a:r>
          </a:p>
          <a:p>
            <a:pPr marL="561339" lvl="1" indent="-280669" algn="just">
              <a:lnSpc>
                <a:spcPts val="4159"/>
              </a:lnSpc>
              <a:buFont typeface="Arial"/>
              <a:buChar char="•"/>
            </a:pPr>
            <a:r>
              <a:rPr lang="en-US" sz="2599">
                <a:solidFill>
                  <a:srgbClr val="FFFFFF"/>
                </a:solidFill>
                <a:latin typeface="Open Sans"/>
                <a:ea typeface="Open Sans"/>
                <a:cs typeface="Open Sans"/>
                <a:sym typeface="Open Sans"/>
              </a:rPr>
              <a:t> Pixel values were scaled to [0, 1] to improve model convergence speed.</a:t>
            </a:r>
          </a:p>
          <a:p>
            <a:pPr marL="0" lvl="1" indent="0" algn="just">
              <a:lnSpc>
                <a:spcPts val="3960"/>
              </a:lnSpc>
            </a:pPr>
            <a:endParaRPr lang="en-US" sz="2599">
              <a:solidFill>
                <a:srgbClr val="FFFFFF"/>
              </a:solidFill>
              <a:latin typeface="Open Sans"/>
              <a:ea typeface="Open Sans"/>
              <a:cs typeface="Open Sans"/>
              <a:sym typeface="Open Sans"/>
            </a:endParaRPr>
          </a:p>
        </p:txBody>
      </p:sp>
      <p:sp>
        <p:nvSpPr>
          <p:cNvPr id="4" name="TextBox 4"/>
          <p:cNvSpPr txBox="1"/>
          <p:nvPr/>
        </p:nvSpPr>
        <p:spPr>
          <a:xfrm>
            <a:off x="435504" y="729043"/>
            <a:ext cx="13826317" cy="694563"/>
          </a:xfrm>
          <a:prstGeom prst="rect">
            <a:avLst/>
          </a:prstGeom>
        </p:spPr>
        <p:txBody>
          <a:bodyPr lIns="0" tIns="0" rIns="0" bIns="0" rtlCol="0" anchor="t">
            <a:spAutoFit/>
          </a:bodyPr>
          <a:lstStyle/>
          <a:p>
            <a:pPr algn="just">
              <a:lnSpc>
                <a:spcPts val="5220"/>
              </a:lnSpc>
            </a:pPr>
            <a:r>
              <a:rPr lang="en-US" sz="5220" b="1" spc="-26">
                <a:solidFill>
                  <a:srgbClr val="FFFFFF"/>
                </a:solidFill>
                <a:latin typeface="Open Sans Bold"/>
                <a:ea typeface="Open Sans Bold"/>
                <a:cs typeface="Open Sans Bold"/>
                <a:sym typeface="Open Sans Bold"/>
              </a:rPr>
              <a:t>DATA PREPROCESSING AND PREPARATION</a:t>
            </a:r>
          </a:p>
        </p:txBody>
      </p:sp>
      <p:grpSp>
        <p:nvGrpSpPr>
          <p:cNvPr id="5" name="Group 5"/>
          <p:cNvGrpSpPr/>
          <p:nvPr/>
        </p:nvGrpSpPr>
        <p:grpSpPr>
          <a:xfrm>
            <a:off x="11022238" y="2531498"/>
            <a:ext cx="3375678" cy="3056613"/>
            <a:chOff x="0" y="0"/>
            <a:chExt cx="4500905" cy="4075484"/>
          </a:xfrm>
        </p:grpSpPr>
        <p:pic>
          <p:nvPicPr>
            <p:cNvPr id="6" name="Picture 6"/>
            <p:cNvPicPr>
              <a:picLocks noChangeAspect="1"/>
            </p:cNvPicPr>
            <p:nvPr/>
          </p:nvPicPr>
          <p:blipFill>
            <a:blip r:embed="rId4"/>
            <a:srcRect l="8635" r="8635"/>
            <a:stretch>
              <a:fillRect/>
            </a:stretch>
          </p:blipFill>
          <p:spPr>
            <a:xfrm>
              <a:off x="0" y="0"/>
              <a:ext cx="4500905" cy="4075484"/>
            </a:xfrm>
            <a:prstGeom prst="rect">
              <a:avLst/>
            </a:prstGeom>
          </p:spPr>
        </p:pic>
      </p:grpSp>
      <p:grpSp>
        <p:nvGrpSpPr>
          <p:cNvPr id="7" name="Group 7"/>
          <p:cNvGrpSpPr/>
          <p:nvPr/>
        </p:nvGrpSpPr>
        <p:grpSpPr>
          <a:xfrm>
            <a:off x="13342050" y="6238239"/>
            <a:ext cx="3387512" cy="3235955"/>
            <a:chOff x="0" y="0"/>
            <a:chExt cx="4516683" cy="4314607"/>
          </a:xfrm>
        </p:grpSpPr>
        <p:pic>
          <p:nvPicPr>
            <p:cNvPr id="8" name="Picture 8"/>
            <p:cNvPicPr>
              <a:picLocks noChangeAspect="1"/>
            </p:cNvPicPr>
            <p:nvPr/>
          </p:nvPicPr>
          <p:blipFill>
            <a:blip r:embed="rId5"/>
            <a:srcRect t="2237" b="2237"/>
            <a:stretch>
              <a:fillRect/>
            </a:stretch>
          </p:blipFill>
          <p:spPr>
            <a:xfrm>
              <a:off x="0" y="0"/>
              <a:ext cx="4516683" cy="4314607"/>
            </a:xfrm>
            <a:prstGeom prst="rect">
              <a:avLst/>
            </a:prstGeom>
          </p:spPr>
        </p:pic>
      </p:grpSp>
      <p:sp>
        <p:nvSpPr>
          <p:cNvPr id="9" name="TextBox 9"/>
          <p:cNvSpPr txBox="1"/>
          <p:nvPr/>
        </p:nvSpPr>
        <p:spPr>
          <a:xfrm>
            <a:off x="9949646" y="1954837"/>
            <a:ext cx="5520863" cy="366905"/>
          </a:xfrm>
          <a:prstGeom prst="rect">
            <a:avLst/>
          </a:prstGeom>
        </p:spPr>
        <p:txBody>
          <a:bodyPr lIns="0" tIns="0" rIns="0" bIns="0" rtlCol="0" anchor="t">
            <a:spAutoFit/>
          </a:bodyPr>
          <a:lstStyle/>
          <a:p>
            <a:pPr algn="ctr">
              <a:lnSpc>
                <a:spcPts val="2820"/>
              </a:lnSpc>
              <a:spcBef>
                <a:spcPct val="0"/>
              </a:spcBef>
            </a:pPr>
            <a:r>
              <a:rPr lang="en-US" sz="2820" b="1" spc="-2">
                <a:solidFill>
                  <a:srgbClr val="FFFFFF"/>
                </a:solidFill>
                <a:latin typeface="Open Sans Bold"/>
                <a:ea typeface="Open Sans Bold"/>
                <a:cs typeface="Open Sans Bold"/>
                <a:sym typeface="Open Sans Bold"/>
              </a:rPr>
              <a:t>Before Resizing (640x480)</a:t>
            </a:r>
          </a:p>
        </p:txBody>
      </p:sp>
      <p:sp>
        <p:nvSpPr>
          <p:cNvPr id="10" name="TextBox 10"/>
          <p:cNvSpPr txBox="1"/>
          <p:nvPr/>
        </p:nvSpPr>
        <p:spPr>
          <a:xfrm>
            <a:off x="12928053" y="5758298"/>
            <a:ext cx="4331247" cy="366905"/>
          </a:xfrm>
          <a:prstGeom prst="rect">
            <a:avLst/>
          </a:prstGeom>
        </p:spPr>
        <p:txBody>
          <a:bodyPr lIns="0" tIns="0" rIns="0" bIns="0" rtlCol="0" anchor="t">
            <a:spAutoFit/>
          </a:bodyPr>
          <a:lstStyle/>
          <a:p>
            <a:pPr algn="ctr">
              <a:lnSpc>
                <a:spcPts val="2820"/>
              </a:lnSpc>
              <a:spcBef>
                <a:spcPct val="0"/>
              </a:spcBef>
            </a:pPr>
            <a:r>
              <a:rPr lang="en-US" sz="2820" b="1" spc="-2">
                <a:solidFill>
                  <a:srgbClr val="FFFFFF"/>
                </a:solidFill>
                <a:latin typeface="Open Sans Bold"/>
                <a:ea typeface="Open Sans Bold"/>
                <a:cs typeface="Open Sans Bold"/>
                <a:sym typeface="Open Sans Bold"/>
              </a:rPr>
              <a:t>After Resizing (640x640)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704503" y="-1726450"/>
            <a:ext cx="17642855" cy="7248273"/>
          </a:xfrm>
          <a:custGeom>
            <a:avLst/>
            <a:gdLst/>
            <a:ahLst/>
            <a:cxnLst/>
            <a:rect l="l" t="t" r="r" b="b"/>
            <a:pathLst>
              <a:path w="17642855" h="7248273">
                <a:moveTo>
                  <a:pt x="17642854" y="7248273"/>
                </a:moveTo>
                <a:lnTo>
                  <a:pt x="0" y="7248273"/>
                </a:lnTo>
                <a:lnTo>
                  <a:pt x="0" y="0"/>
                </a:lnTo>
                <a:lnTo>
                  <a:pt x="17642854" y="0"/>
                </a:lnTo>
                <a:lnTo>
                  <a:pt x="17642854" y="7248273"/>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986774" y="2302056"/>
            <a:ext cx="3375660" cy="3056572"/>
            <a:chOff x="0" y="0"/>
            <a:chExt cx="4500880" cy="4075430"/>
          </a:xfrm>
        </p:grpSpPr>
        <p:pic>
          <p:nvPicPr>
            <p:cNvPr id="4" name="Picture 4"/>
            <p:cNvPicPr>
              <a:picLocks noChangeAspect="1"/>
            </p:cNvPicPr>
            <p:nvPr/>
          </p:nvPicPr>
          <p:blipFill>
            <a:blip r:embed="rId4"/>
            <a:srcRect t="4726" b="4726"/>
            <a:stretch>
              <a:fillRect/>
            </a:stretch>
          </p:blipFill>
          <p:spPr>
            <a:xfrm>
              <a:off x="0" y="0"/>
              <a:ext cx="4500880" cy="4075430"/>
            </a:xfrm>
            <a:prstGeom prst="rect">
              <a:avLst/>
            </a:prstGeom>
          </p:spPr>
        </p:pic>
      </p:grpSp>
      <p:grpSp>
        <p:nvGrpSpPr>
          <p:cNvPr id="5" name="Group 5"/>
          <p:cNvGrpSpPr/>
          <p:nvPr/>
        </p:nvGrpSpPr>
        <p:grpSpPr>
          <a:xfrm>
            <a:off x="13972176" y="6155428"/>
            <a:ext cx="3375660" cy="3056572"/>
            <a:chOff x="0" y="0"/>
            <a:chExt cx="4500880" cy="4075430"/>
          </a:xfrm>
        </p:grpSpPr>
        <p:pic>
          <p:nvPicPr>
            <p:cNvPr id="6" name="Picture 6"/>
            <p:cNvPicPr>
              <a:picLocks noChangeAspect="1"/>
            </p:cNvPicPr>
            <p:nvPr/>
          </p:nvPicPr>
          <p:blipFill>
            <a:blip r:embed="rId5"/>
            <a:srcRect t="4726" b="4726"/>
            <a:stretch>
              <a:fillRect/>
            </a:stretch>
          </p:blipFill>
          <p:spPr>
            <a:xfrm>
              <a:off x="0" y="0"/>
              <a:ext cx="4500880" cy="4075430"/>
            </a:xfrm>
            <a:prstGeom prst="rect">
              <a:avLst/>
            </a:prstGeom>
          </p:spPr>
        </p:pic>
      </p:grpSp>
      <p:sp>
        <p:nvSpPr>
          <p:cNvPr id="7" name="TextBox 7"/>
          <p:cNvSpPr txBox="1"/>
          <p:nvPr/>
        </p:nvSpPr>
        <p:spPr>
          <a:xfrm>
            <a:off x="583135" y="1915170"/>
            <a:ext cx="9119201" cy="8371830"/>
          </a:xfrm>
          <a:prstGeom prst="rect">
            <a:avLst/>
          </a:prstGeom>
        </p:spPr>
        <p:txBody>
          <a:bodyPr lIns="0" tIns="0" rIns="0" bIns="0" rtlCol="0" anchor="t">
            <a:spAutoFit/>
          </a:bodyPr>
          <a:lstStyle/>
          <a:p>
            <a:pPr algn="just">
              <a:lnSpc>
                <a:spcPts val="4159"/>
              </a:lnSpc>
            </a:pPr>
            <a:r>
              <a:rPr lang="en-US" sz="2599" b="1" u="none" strike="noStrike">
                <a:solidFill>
                  <a:srgbClr val="FFFFFF"/>
                </a:solidFill>
                <a:latin typeface="Open Sans Bold"/>
                <a:ea typeface="Open Sans Bold"/>
                <a:cs typeface="Open Sans Bold"/>
                <a:sym typeface="Open Sans Bold"/>
              </a:rPr>
              <a:t>4. Label Verification and Alignment</a:t>
            </a:r>
          </a:p>
          <a:p>
            <a:pPr marL="561339" lvl="1" indent="-280669" algn="just">
              <a:lnSpc>
                <a:spcPts val="4159"/>
              </a:lnSpc>
              <a:buFont typeface="Arial"/>
              <a:buChar char="•"/>
            </a:pPr>
            <a:r>
              <a:rPr lang="en-US" sz="2599" u="none" strike="noStrike">
                <a:solidFill>
                  <a:srgbClr val="FFFFFF"/>
                </a:solidFill>
                <a:latin typeface="Open Sans"/>
                <a:ea typeface="Open Sans"/>
                <a:cs typeface="Open Sans"/>
                <a:sym typeface="Open Sans"/>
              </a:rPr>
              <a:t> Verified that all bounding boxes match image coordinates and that class indices are correctly mapped (toy-car=0, lego=1, stop-sign=2, green=3, red=4, yellow=5) to  ensure the YOLO model learns the correct object-class associations.</a:t>
            </a:r>
          </a:p>
          <a:p>
            <a:pPr algn="just">
              <a:lnSpc>
                <a:spcPts val="4159"/>
              </a:lnSpc>
            </a:pPr>
            <a:r>
              <a:rPr lang="en-US" sz="2599" b="1" u="none" strike="noStrike">
                <a:solidFill>
                  <a:srgbClr val="FFFFFF"/>
                </a:solidFill>
                <a:latin typeface="Open Sans Bold"/>
                <a:ea typeface="Open Sans Bold"/>
                <a:cs typeface="Open Sans Bold"/>
                <a:sym typeface="Open Sans Bold"/>
              </a:rPr>
              <a:t>5. Data Augmentation</a:t>
            </a:r>
          </a:p>
          <a:p>
            <a:pPr marL="561339" lvl="1" indent="-280669" algn="just">
              <a:lnSpc>
                <a:spcPts val="4159"/>
              </a:lnSpc>
              <a:buFont typeface="Arial"/>
              <a:buChar char="•"/>
            </a:pPr>
            <a:r>
              <a:rPr lang="en-US" sz="2599" u="none" strike="noStrike">
                <a:solidFill>
                  <a:srgbClr val="FFFFFF"/>
                </a:solidFill>
                <a:latin typeface="Open Sans"/>
                <a:ea typeface="Open Sans"/>
                <a:cs typeface="Open Sans"/>
                <a:sym typeface="Open Sans"/>
              </a:rPr>
              <a:t> Applied light augmentations , including: Horizontal flip, Slight saturation changes, Motion blur and Random scaling (±30%) to increases dataset diversity, reduce overfitting, and help the model generalize better to different lighting, orientation, and motion conditions.</a:t>
            </a:r>
          </a:p>
          <a:p>
            <a:pPr marL="561339" lvl="1" indent="-280669" algn="just">
              <a:lnSpc>
                <a:spcPts val="4159"/>
              </a:lnSpc>
              <a:buFont typeface="Arial"/>
              <a:buChar char="•"/>
            </a:pPr>
            <a:r>
              <a:rPr lang="en-US" sz="2599" u="none" strike="noStrike">
                <a:solidFill>
                  <a:srgbClr val="FFFFFF"/>
                </a:solidFill>
                <a:latin typeface="Open Sans"/>
                <a:ea typeface="Open Sans"/>
                <a:cs typeface="Open Sans"/>
                <a:sym typeface="Open Sans"/>
              </a:rPr>
              <a:t> Augmentation was </a:t>
            </a:r>
            <a:r>
              <a:rPr lang="en-US" sz="2599" b="1" u="none" strike="noStrike">
                <a:solidFill>
                  <a:srgbClr val="FFFFFF"/>
                </a:solidFill>
                <a:latin typeface="Open Sans Bold"/>
                <a:ea typeface="Open Sans Bold"/>
                <a:cs typeface="Open Sans Bold"/>
                <a:sym typeface="Open Sans Bold"/>
              </a:rPr>
              <a:t>applied only to underrepresented classes</a:t>
            </a:r>
            <a:r>
              <a:rPr lang="en-US" sz="2599" u="none" strike="noStrike">
                <a:solidFill>
                  <a:srgbClr val="FFFFFF"/>
                </a:solidFill>
                <a:latin typeface="Open Sans"/>
                <a:ea typeface="Open Sans"/>
                <a:cs typeface="Open Sans"/>
                <a:sym typeface="Open Sans"/>
              </a:rPr>
              <a:t> and prevent bias toward frequent objects like </a:t>
            </a:r>
            <a:r>
              <a:rPr lang="en-US" sz="2599" b="1" u="none" strike="noStrike">
                <a:solidFill>
                  <a:srgbClr val="FFFFFF"/>
                </a:solidFill>
                <a:latin typeface="Open Sans Bold"/>
                <a:ea typeface="Open Sans Bold"/>
                <a:cs typeface="Open Sans Bold"/>
                <a:sym typeface="Open Sans Bold"/>
              </a:rPr>
              <a:t>toy cars</a:t>
            </a:r>
            <a:r>
              <a:rPr lang="en-US" sz="2599" u="none" strike="noStrike">
                <a:solidFill>
                  <a:srgbClr val="FFFFFF"/>
                </a:solidFill>
                <a:latin typeface="Open Sans"/>
                <a:ea typeface="Open Sans"/>
                <a:cs typeface="Open Sans"/>
                <a:sym typeface="Open Sans"/>
              </a:rPr>
              <a:t>.</a:t>
            </a:r>
          </a:p>
          <a:p>
            <a:pPr marL="0" lvl="1" indent="0" algn="just">
              <a:lnSpc>
                <a:spcPts val="4280"/>
              </a:lnSpc>
            </a:pPr>
            <a:endParaRPr lang="en-US" sz="2599" u="none" strike="noStrike">
              <a:solidFill>
                <a:srgbClr val="FFFFFF"/>
              </a:solidFill>
              <a:latin typeface="Open Sans"/>
              <a:ea typeface="Open Sans"/>
              <a:cs typeface="Open Sans"/>
              <a:sym typeface="Open Sans"/>
            </a:endParaRPr>
          </a:p>
        </p:txBody>
      </p:sp>
      <p:sp>
        <p:nvSpPr>
          <p:cNvPr id="8" name="TextBox 8"/>
          <p:cNvSpPr txBox="1"/>
          <p:nvPr/>
        </p:nvSpPr>
        <p:spPr>
          <a:xfrm>
            <a:off x="583135" y="729043"/>
            <a:ext cx="14235914" cy="694563"/>
          </a:xfrm>
          <a:prstGeom prst="rect">
            <a:avLst/>
          </a:prstGeom>
        </p:spPr>
        <p:txBody>
          <a:bodyPr lIns="0" tIns="0" rIns="0" bIns="0" rtlCol="0" anchor="t">
            <a:spAutoFit/>
          </a:bodyPr>
          <a:lstStyle/>
          <a:p>
            <a:pPr algn="just">
              <a:lnSpc>
                <a:spcPts val="5220"/>
              </a:lnSpc>
            </a:pPr>
            <a:r>
              <a:rPr lang="en-US" sz="5220" b="1" spc="-5">
                <a:solidFill>
                  <a:srgbClr val="FFFFFF"/>
                </a:solidFill>
                <a:latin typeface="Open Sans Bold"/>
                <a:ea typeface="Open Sans Bold"/>
                <a:cs typeface="Open Sans Bold"/>
                <a:sym typeface="Open Sans Bold"/>
              </a:rPr>
              <a:t>DATA PREPROCESSING AND PREPARATION</a:t>
            </a:r>
          </a:p>
        </p:txBody>
      </p:sp>
      <p:sp>
        <p:nvSpPr>
          <p:cNvPr id="9" name="TextBox 9"/>
          <p:cNvSpPr txBox="1"/>
          <p:nvPr/>
        </p:nvSpPr>
        <p:spPr>
          <a:xfrm>
            <a:off x="10749482" y="1771957"/>
            <a:ext cx="3850243" cy="366905"/>
          </a:xfrm>
          <a:prstGeom prst="rect">
            <a:avLst/>
          </a:prstGeom>
        </p:spPr>
        <p:txBody>
          <a:bodyPr lIns="0" tIns="0" rIns="0" bIns="0" rtlCol="0" anchor="t">
            <a:spAutoFit/>
          </a:bodyPr>
          <a:lstStyle/>
          <a:p>
            <a:pPr marL="0" lvl="0" indent="0" algn="ctr">
              <a:lnSpc>
                <a:spcPts val="2820"/>
              </a:lnSpc>
              <a:spcBef>
                <a:spcPct val="0"/>
              </a:spcBef>
            </a:pPr>
            <a:r>
              <a:rPr lang="en-US" sz="2820" b="1" u="none" strike="noStrike" spc="-2">
                <a:solidFill>
                  <a:srgbClr val="FFFFFF"/>
                </a:solidFill>
                <a:latin typeface="Open Sans Bold"/>
                <a:ea typeface="Open Sans Bold"/>
                <a:cs typeface="Open Sans Bold"/>
                <a:sym typeface="Open Sans Bold"/>
              </a:rPr>
              <a:t>Before Augmentation</a:t>
            </a:r>
          </a:p>
        </p:txBody>
      </p:sp>
      <p:sp>
        <p:nvSpPr>
          <p:cNvPr id="10" name="TextBox 10"/>
          <p:cNvSpPr txBox="1"/>
          <p:nvPr/>
        </p:nvSpPr>
        <p:spPr>
          <a:xfrm>
            <a:off x="13870377" y="5578973"/>
            <a:ext cx="3579257" cy="366905"/>
          </a:xfrm>
          <a:prstGeom prst="rect">
            <a:avLst/>
          </a:prstGeom>
        </p:spPr>
        <p:txBody>
          <a:bodyPr lIns="0" tIns="0" rIns="0" bIns="0" rtlCol="0" anchor="t">
            <a:spAutoFit/>
          </a:bodyPr>
          <a:lstStyle/>
          <a:p>
            <a:pPr marL="0" lvl="0" indent="0" algn="ctr">
              <a:lnSpc>
                <a:spcPts val="2820"/>
              </a:lnSpc>
              <a:spcBef>
                <a:spcPct val="0"/>
              </a:spcBef>
            </a:pPr>
            <a:r>
              <a:rPr lang="en-US" sz="2820" b="1" u="none" strike="noStrike" spc="-2">
                <a:solidFill>
                  <a:srgbClr val="FFFFFF"/>
                </a:solidFill>
                <a:latin typeface="Open Sans Bold"/>
                <a:ea typeface="Open Sans Bold"/>
                <a:cs typeface="Open Sans Bold"/>
                <a:sym typeface="Open Sans Bold"/>
              </a:rPr>
              <a:t>After Augmentation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899519" y="-2104773"/>
            <a:ext cx="17642855" cy="7248273"/>
          </a:xfrm>
          <a:custGeom>
            <a:avLst/>
            <a:gdLst/>
            <a:ahLst/>
            <a:cxnLst/>
            <a:rect l="l" t="t" r="r" b="b"/>
            <a:pathLst>
              <a:path w="17642855" h="7248273">
                <a:moveTo>
                  <a:pt x="17642855" y="7248273"/>
                </a:moveTo>
                <a:lnTo>
                  <a:pt x="0" y="7248273"/>
                </a:lnTo>
                <a:lnTo>
                  <a:pt x="0" y="0"/>
                </a:lnTo>
                <a:lnTo>
                  <a:pt x="17642855" y="0"/>
                </a:lnTo>
                <a:lnTo>
                  <a:pt x="17642855" y="724827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61250" y="2966376"/>
            <a:ext cx="10259697" cy="7034480"/>
          </a:xfrm>
          <a:prstGeom prst="rect">
            <a:avLst/>
          </a:prstGeom>
        </p:spPr>
        <p:txBody>
          <a:bodyPr lIns="0" tIns="0" rIns="0" bIns="0" rtlCol="0" anchor="t">
            <a:spAutoFit/>
          </a:bodyPr>
          <a:lstStyle/>
          <a:p>
            <a:pPr algn="just">
              <a:lnSpc>
                <a:spcPts val="4277"/>
              </a:lnSpc>
            </a:pPr>
            <a:r>
              <a:rPr lang="en-US" sz="2673" b="1" u="none" strike="noStrike">
                <a:solidFill>
                  <a:srgbClr val="FFFFFF"/>
                </a:solidFill>
                <a:latin typeface="Open Sans Bold"/>
                <a:ea typeface="Open Sans Bold"/>
                <a:cs typeface="Open Sans Bold"/>
                <a:sym typeface="Open Sans Bold"/>
              </a:rPr>
              <a:t>1</a:t>
            </a:r>
            <a:r>
              <a:rPr lang="en-US" sz="2673" u="none" strike="noStrike">
                <a:solidFill>
                  <a:srgbClr val="FFFFFF"/>
                </a:solidFill>
                <a:latin typeface="Open Sans"/>
                <a:ea typeface="Open Sans"/>
                <a:cs typeface="Open Sans"/>
                <a:sym typeface="Open Sans"/>
              </a:rPr>
              <a:t>- it provides real-time object detection with high accuracy, small model size, and efficient performance on embedded hardware. </a:t>
            </a:r>
          </a:p>
          <a:p>
            <a:pPr algn="just">
              <a:lnSpc>
                <a:spcPts val="4277"/>
              </a:lnSpc>
            </a:pPr>
            <a:r>
              <a:rPr lang="en-US" sz="2673" b="1" u="none" strike="noStrike">
                <a:solidFill>
                  <a:srgbClr val="FFFFFF"/>
                </a:solidFill>
                <a:latin typeface="Open Sans Bold"/>
                <a:ea typeface="Open Sans Bold"/>
                <a:cs typeface="Open Sans Bold"/>
                <a:sym typeface="Open Sans Bold"/>
              </a:rPr>
              <a:t>2-</a:t>
            </a:r>
            <a:r>
              <a:rPr lang="en-US" sz="2673" u="none" strike="noStrike">
                <a:solidFill>
                  <a:srgbClr val="FFFFFF"/>
                </a:solidFill>
                <a:latin typeface="Open Sans"/>
                <a:ea typeface="Open Sans"/>
                <a:cs typeface="Open Sans"/>
                <a:sym typeface="Open Sans"/>
              </a:rPr>
              <a:t> Unlike traditional CNN-based detectors such as Faster R-CNN or SSD,</a:t>
            </a:r>
            <a:r>
              <a:rPr lang="en-US" sz="2673" b="1" u="none" strike="noStrike">
                <a:solidFill>
                  <a:srgbClr val="FFFFFF"/>
                </a:solidFill>
                <a:latin typeface="Open Sans Bold"/>
                <a:ea typeface="Open Sans Bold"/>
                <a:cs typeface="Open Sans Bold"/>
                <a:sym typeface="Open Sans Bold"/>
              </a:rPr>
              <a:t> YOLO</a:t>
            </a:r>
            <a:r>
              <a:rPr lang="en-US" sz="2673" u="none" strike="noStrike">
                <a:solidFill>
                  <a:srgbClr val="FFFFFF"/>
                </a:solidFill>
                <a:latin typeface="Open Sans"/>
                <a:ea typeface="Open Sans"/>
                <a:cs typeface="Open Sans"/>
                <a:sym typeface="Open Sans"/>
              </a:rPr>
              <a:t> performs detection and classification in a single forward pass, allowing our car to react instantly to obstacles, traffic lights, and stop signs. </a:t>
            </a:r>
          </a:p>
          <a:p>
            <a:pPr algn="just">
              <a:lnSpc>
                <a:spcPts val="4277"/>
              </a:lnSpc>
            </a:pPr>
            <a:r>
              <a:rPr lang="en-US" sz="2673" b="1" u="none" strike="noStrike">
                <a:solidFill>
                  <a:srgbClr val="FFFFFF"/>
                </a:solidFill>
                <a:latin typeface="Open Sans Bold"/>
                <a:ea typeface="Open Sans Bold"/>
                <a:cs typeface="Open Sans Bold"/>
                <a:sym typeface="Open Sans Bold"/>
              </a:rPr>
              <a:t>3-</a:t>
            </a:r>
            <a:r>
              <a:rPr lang="en-US" sz="2673" u="none" strike="noStrike">
                <a:solidFill>
                  <a:srgbClr val="FFFFFF"/>
                </a:solidFill>
                <a:latin typeface="Open Sans"/>
                <a:ea typeface="Open Sans"/>
                <a:cs typeface="Open Sans"/>
                <a:sym typeface="Open Sans"/>
              </a:rPr>
              <a:t> Its multi-scale architecture enables accurate detection of both large and very small objects, such as distant traffic lights. </a:t>
            </a:r>
          </a:p>
          <a:p>
            <a:pPr algn="just">
              <a:lnSpc>
                <a:spcPts val="4277"/>
              </a:lnSpc>
            </a:pPr>
            <a:r>
              <a:rPr lang="en-US" sz="2673" b="1" u="none" strike="noStrike">
                <a:solidFill>
                  <a:srgbClr val="FFFFFF"/>
                </a:solidFill>
                <a:latin typeface="Open Sans Bold"/>
                <a:ea typeface="Open Sans Bold"/>
                <a:cs typeface="Open Sans Bold"/>
                <a:sym typeface="Open Sans Bold"/>
              </a:rPr>
              <a:t>4-</a:t>
            </a:r>
            <a:r>
              <a:rPr lang="en-US" sz="2673" u="none" strike="noStrike">
                <a:solidFill>
                  <a:srgbClr val="FFFFFF"/>
                </a:solidFill>
                <a:latin typeface="Open Sans"/>
                <a:ea typeface="Open Sans"/>
                <a:cs typeface="Open Sans"/>
                <a:sym typeface="Open Sans"/>
              </a:rPr>
              <a:t> It is easy to train on our custom dataset and runs smoothly on hardware  These advantages make YOLO the most suitable model for safety-critical and resource-limited autonomous vehicle systems.</a:t>
            </a:r>
          </a:p>
          <a:p>
            <a:pPr marL="0" lvl="1" indent="0" algn="just">
              <a:lnSpc>
                <a:spcPts val="4406"/>
              </a:lnSpc>
            </a:pPr>
            <a:endParaRPr lang="en-US" sz="2673" u="none" strike="noStrike">
              <a:solidFill>
                <a:srgbClr val="FFFFFF"/>
              </a:solidFill>
              <a:latin typeface="Open Sans"/>
              <a:ea typeface="Open Sans"/>
              <a:cs typeface="Open Sans"/>
              <a:sym typeface="Open Sans"/>
            </a:endParaRPr>
          </a:p>
        </p:txBody>
      </p:sp>
      <p:sp>
        <p:nvSpPr>
          <p:cNvPr id="4" name="TextBox 4"/>
          <p:cNvSpPr txBox="1"/>
          <p:nvPr/>
        </p:nvSpPr>
        <p:spPr>
          <a:xfrm>
            <a:off x="266233" y="824801"/>
            <a:ext cx="14235914" cy="694563"/>
          </a:xfrm>
          <a:prstGeom prst="rect">
            <a:avLst/>
          </a:prstGeom>
        </p:spPr>
        <p:txBody>
          <a:bodyPr lIns="0" tIns="0" rIns="0" bIns="0" rtlCol="0" anchor="t">
            <a:spAutoFit/>
          </a:bodyPr>
          <a:lstStyle/>
          <a:p>
            <a:pPr algn="just">
              <a:lnSpc>
                <a:spcPts val="5220"/>
              </a:lnSpc>
            </a:pPr>
            <a:r>
              <a:rPr lang="en-US" sz="5220" b="1" spc="-5">
                <a:solidFill>
                  <a:srgbClr val="FFFFFF"/>
                </a:solidFill>
                <a:latin typeface="Open Sans Bold"/>
                <a:ea typeface="Open Sans Bold"/>
                <a:cs typeface="Open Sans Bold"/>
                <a:sym typeface="Open Sans Bold"/>
              </a:rPr>
              <a:t>OBJECT DETECTION MODEL (YOLO)</a:t>
            </a:r>
          </a:p>
        </p:txBody>
      </p:sp>
      <p:grpSp>
        <p:nvGrpSpPr>
          <p:cNvPr id="5" name="Group 5"/>
          <p:cNvGrpSpPr/>
          <p:nvPr/>
        </p:nvGrpSpPr>
        <p:grpSpPr>
          <a:xfrm>
            <a:off x="11279705" y="3071151"/>
            <a:ext cx="6846835" cy="4827257"/>
            <a:chOff x="0" y="0"/>
            <a:chExt cx="952929" cy="671848"/>
          </a:xfrm>
        </p:grpSpPr>
        <p:sp>
          <p:nvSpPr>
            <p:cNvPr id="6" name="Freeform 6"/>
            <p:cNvSpPr/>
            <p:nvPr/>
          </p:nvSpPr>
          <p:spPr>
            <a:xfrm>
              <a:off x="0" y="0"/>
              <a:ext cx="952929" cy="671848"/>
            </a:xfrm>
            <a:custGeom>
              <a:avLst/>
              <a:gdLst/>
              <a:ahLst/>
              <a:cxnLst/>
              <a:rect l="l" t="t" r="r" b="b"/>
              <a:pathLst>
                <a:path w="952929" h="671848">
                  <a:moveTo>
                    <a:pt x="0" y="0"/>
                  </a:moveTo>
                  <a:lnTo>
                    <a:pt x="952929" y="0"/>
                  </a:lnTo>
                  <a:lnTo>
                    <a:pt x="952929" y="671848"/>
                  </a:lnTo>
                  <a:lnTo>
                    <a:pt x="0" y="671848"/>
                  </a:lnTo>
                  <a:close/>
                </a:path>
              </a:pathLst>
            </a:custGeom>
            <a:blipFill>
              <a:blip r:embed="rId4"/>
              <a:stretch>
                <a:fillRect l="-30117" r="-30117"/>
              </a:stretch>
            </a:blipFill>
          </p:spPr>
        </p:sp>
      </p:grpSp>
      <p:sp>
        <p:nvSpPr>
          <p:cNvPr id="7" name="TextBox 7"/>
          <p:cNvSpPr txBox="1"/>
          <p:nvPr/>
        </p:nvSpPr>
        <p:spPr>
          <a:xfrm>
            <a:off x="266233" y="2298705"/>
            <a:ext cx="11013472" cy="364365"/>
          </a:xfrm>
          <a:prstGeom prst="rect">
            <a:avLst/>
          </a:prstGeom>
        </p:spPr>
        <p:txBody>
          <a:bodyPr lIns="0" tIns="0" rIns="0" bIns="0" rtlCol="0" anchor="t">
            <a:spAutoFit/>
          </a:bodyPr>
          <a:lstStyle/>
          <a:p>
            <a:pPr algn="ctr">
              <a:lnSpc>
                <a:spcPts val="2720"/>
              </a:lnSpc>
              <a:spcBef>
                <a:spcPct val="0"/>
              </a:spcBef>
            </a:pPr>
            <a:r>
              <a:rPr lang="en-US" sz="2720" b="1" spc="-2">
                <a:solidFill>
                  <a:srgbClr val="FFFFFF"/>
                </a:solidFill>
                <a:latin typeface="Open Sans Bold"/>
                <a:ea typeface="Open Sans Bold"/>
                <a:cs typeface="Open Sans Bold"/>
                <a:sym typeface="Open Sans Bold"/>
              </a:rPr>
              <a:t>YOLO (You Only Look Once)</a:t>
            </a:r>
            <a:r>
              <a:rPr lang="en-US" sz="2720" spc="-2">
                <a:solidFill>
                  <a:srgbClr val="FFFFFF"/>
                </a:solidFill>
                <a:latin typeface="Open Sans"/>
                <a:ea typeface="Open Sans"/>
                <a:cs typeface="Open Sans"/>
                <a:sym typeface="Open Sans"/>
              </a:rPr>
              <a:t> is ideal for our self-driving car project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TextBox 2"/>
          <p:cNvSpPr txBox="1"/>
          <p:nvPr/>
        </p:nvSpPr>
        <p:spPr>
          <a:xfrm>
            <a:off x="360161" y="2653383"/>
            <a:ext cx="10499526" cy="7306764"/>
          </a:xfrm>
          <a:prstGeom prst="rect">
            <a:avLst/>
          </a:prstGeom>
        </p:spPr>
        <p:txBody>
          <a:bodyPr lIns="0" tIns="0" rIns="0" bIns="0" rtlCol="0" anchor="t">
            <a:spAutoFit/>
          </a:bodyPr>
          <a:lstStyle/>
          <a:p>
            <a:pPr algn="just">
              <a:lnSpc>
                <a:spcPts val="4165"/>
              </a:lnSpc>
            </a:pPr>
            <a:r>
              <a:rPr lang="en-US" sz="2603" b="1">
                <a:solidFill>
                  <a:srgbClr val="FFFFFF"/>
                </a:solidFill>
                <a:latin typeface="Open Sans Bold"/>
                <a:ea typeface="Open Sans Bold"/>
                <a:cs typeface="Open Sans Bold"/>
                <a:sym typeface="Open Sans Bold"/>
              </a:rPr>
              <a:t>Rule-Based Control:</a:t>
            </a:r>
          </a:p>
          <a:p>
            <a:pPr marL="562110" lvl="1" indent="-281055" algn="just">
              <a:lnSpc>
                <a:spcPts val="4165"/>
              </a:lnSpc>
              <a:buFont typeface="Arial"/>
              <a:buChar char="•"/>
            </a:pPr>
            <a:r>
              <a:rPr lang="en-US" sz="2603">
                <a:solidFill>
                  <a:srgbClr val="FFFFFF"/>
                </a:solidFill>
                <a:latin typeface="Open Sans"/>
                <a:ea typeface="Open Sans"/>
                <a:cs typeface="Open Sans"/>
                <a:sym typeface="Open Sans"/>
              </a:rPr>
              <a:t> The system initially uses a rule-based approach, where actions are defined by preset conditions .</a:t>
            </a:r>
          </a:p>
          <a:p>
            <a:pPr marL="562110" lvl="1" indent="-281055" algn="just">
              <a:lnSpc>
                <a:spcPts val="4165"/>
              </a:lnSpc>
              <a:buFont typeface="Arial"/>
              <a:buChar char="•"/>
            </a:pPr>
            <a:r>
              <a:rPr lang="en-US" sz="2603">
                <a:solidFill>
                  <a:srgbClr val="FFFFFF"/>
                </a:solidFill>
                <a:latin typeface="Open Sans"/>
                <a:ea typeface="Open Sans"/>
                <a:cs typeface="Open Sans"/>
                <a:sym typeface="Open Sans"/>
              </a:rPr>
              <a:t> This allows for straightforward testing and ensures reliability during early development.</a:t>
            </a:r>
          </a:p>
          <a:p>
            <a:pPr algn="just">
              <a:lnSpc>
                <a:spcPts val="4165"/>
              </a:lnSpc>
            </a:pPr>
            <a:endParaRPr lang="en-US" sz="2603">
              <a:solidFill>
                <a:srgbClr val="FFFFFF"/>
              </a:solidFill>
              <a:latin typeface="Open Sans"/>
              <a:ea typeface="Open Sans"/>
              <a:cs typeface="Open Sans"/>
              <a:sym typeface="Open Sans"/>
            </a:endParaRPr>
          </a:p>
          <a:p>
            <a:pPr algn="just">
              <a:lnSpc>
                <a:spcPts val="4165"/>
              </a:lnSpc>
            </a:pPr>
            <a:r>
              <a:rPr lang="en-US" sz="2603" b="1">
                <a:solidFill>
                  <a:srgbClr val="FFFFFF"/>
                </a:solidFill>
                <a:latin typeface="Open Sans Bold"/>
                <a:ea typeface="Open Sans Bold"/>
                <a:cs typeface="Open Sans Bold"/>
                <a:sym typeface="Open Sans Bold"/>
              </a:rPr>
              <a:t>Exploring Reinforcement Learning:</a:t>
            </a:r>
          </a:p>
          <a:p>
            <a:pPr marL="562110" lvl="1" indent="-281055" algn="just">
              <a:lnSpc>
                <a:spcPts val="4165"/>
              </a:lnSpc>
              <a:buFont typeface="Arial"/>
              <a:buChar char="•"/>
            </a:pPr>
            <a:r>
              <a:rPr lang="en-US" sz="2603" b="1">
                <a:solidFill>
                  <a:srgbClr val="FFFFFF"/>
                </a:solidFill>
                <a:latin typeface="Open Sans Bold"/>
                <a:ea typeface="Open Sans Bold"/>
                <a:cs typeface="Open Sans Bold"/>
                <a:sym typeface="Open Sans Bold"/>
              </a:rPr>
              <a:t> </a:t>
            </a:r>
            <a:r>
              <a:rPr lang="en-US" sz="2603">
                <a:solidFill>
                  <a:srgbClr val="FFFFFF"/>
                </a:solidFill>
                <a:latin typeface="Open Sans"/>
                <a:ea typeface="Open Sans"/>
                <a:cs typeface="Open Sans"/>
                <a:sym typeface="Open Sans"/>
              </a:rPr>
              <a:t>We are currently surveying Reinforcement Learning (RL) techniques to enhance obstacle avoidance and decision-making.</a:t>
            </a:r>
          </a:p>
          <a:p>
            <a:pPr marL="562110" lvl="1" indent="-281055" algn="just">
              <a:lnSpc>
                <a:spcPts val="4165"/>
              </a:lnSpc>
              <a:buFont typeface="Arial"/>
              <a:buChar char="•"/>
            </a:pPr>
            <a:r>
              <a:rPr lang="en-US" sz="2603">
                <a:solidFill>
                  <a:srgbClr val="FFFFFF"/>
                </a:solidFill>
                <a:latin typeface="Open Sans"/>
                <a:ea typeface="Open Sans"/>
                <a:cs typeface="Open Sans"/>
                <a:sym typeface="Open Sans"/>
              </a:rPr>
              <a:t> RL models learn from experience to balance safety and efficiency, enabling the vehicle to make more adaptive driving decisions in complex environments such as </a:t>
            </a:r>
            <a:r>
              <a:rPr lang="en-US" sz="2603" b="1">
                <a:solidFill>
                  <a:srgbClr val="FFFFFF"/>
                </a:solidFill>
                <a:latin typeface="Open Sans Bold"/>
                <a:ea typeface="Open Sans Bold"/>
                <a:cs typeface="Open Sans Bold"/>
                <a:sym typeface="Open Sans Bold"/>
              </a:rPr>
              <a:t>highways or multi-lane roads.</a:t>
            </a:r>
          </a:p>
          <a:p>
            <a:pPr algn="just">
              <a:lnSpc>
                <a:spcPts val="4165"/>
              </a:lnSpc>
            </a:pPr>
            <a:endParaRPr lang="en-US" sz="2603" b="1">
              <a:solidFill>
                <a:srgbClr val="FFFFFF"/>
              </a:solidFill>
              <a:latin typeface="Open Sans Bold"/>
              <a:ea typeface="Open Sans Bold"/>
              <a:cs typeface="Open Sans Bold"/>
              <a:sym typeface="Open Sans Bold"/>
            </a:endParaRPr>
          </a:p>
        </p:txBody>
      </p:sp>
      <p:sp>
        <p:nvSpPr>
          <p:cNvPr id="3" name="TextBox 3"/>
          <p:cNvSpPr txBox="1"/>
          <p:nvPr/>
        </p:nvSpPr>
        <p:spPr>
          <a:xfrm>
            <a:off x="360161" y="1346466"/>
            <a:ext cx="14641374" cy="694563"/>
          </a:xfrm>
          <a:prstGeom prst="rect">
            <a:avLst/>
          </a:prstGeom>
        </p:spPr>
        <p:txBody>
          <a:bodyPr lIns="0" tIns="0" rIns="0" bIns="0" rtlCol="0" anchor="t">
            <a:spAutoFit/>
          </a:bodyPr>
          <a:lstStyle/>
          <a:p>
            <a:pPr marL="0" lvl="0" indent="0" algn="just">
              <a:lnSpc>
                <a:spcPts val="5220"/>
              </a:lnSpc>
              <a:spcBef>
                <a:spcPct val="0"/>
              </a:spcBef>
            </a:pPr>
            <a:r>
              <a:rPr lang="en-US" sz="5220" b="1" u="none" strike="noStrike" spc="-5">
                <a:solidFill>
                  <a:srgbClr val="FFFFFF"/>
                </a:solidFill>
                <a:latin typeface="Open Sans Bold"/>
                <a:ea typeface="Open Sans Bold"/>
                <a:cs typeface="Open Sans Bold"/>
                <a:sym typeface="Open Sans Bold"/>
              </a:rPr>
              <a:t>DECISION-MAKING &amp; OBSTACLE AVOIDANCE</a:t>
            </a:r>
          </a:p>
        </p:txBody>
      </p:sp>
      <p:sp>
        <p:nvSpPr>
          <p:cNvPr id="4" name="Freeform 4"/>
          <p:cNvSpPr/>
          <p:nvPr/>
        </p:nvSpPr>
        <p:spPr>
          <a:xfrm flipH="1" flipV="1">
            <a:off x="1028700" y="-3387845"/>
            <a:ext cx="17642855" cy="7248273"/>
          </a:xfrm>
          <a:custGeom>
            <a:avLst/>
            <a:gdLst/>
            <a:ahLst/>
            <a:cxnLst/>
            <a:rect l="l" t="t" r="r" b="b"/>
            <a:pathLst>
              <a:path w="17642855" h="7248273">
                <a:moveTo>
                  <a:pt x="17642855" y="7248273"/>
                </a:moveTo>
                <a:lnTo>
                  <a:pt x="0" y="7248273"/>
                </a:lnTo>
                <a:lnTo>
                  <a:pt x="0" y="0"/>
                </a:lnTo>
                <a:lnTo>
                  <a:pt x="17642855" y="0"/>
                </a:lnTo>
                <a:lnTo>
                  <a:pt x="17642855" y="7248273"/>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5" name="Picture 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l="18344" r="25086"/>
          <a:stretch>
            <a:fillRect/>
          </a:stretch>
        </p:blipFill>
        <p:spPr>
          <a:xfrm>
            <a:off x="12015833" y="6359152"/>
            <a:ext cx="5693668" cy="2516235"/>
          </a:xfrm>
          <a:prstGeom prst="rect">
            <a:avLst/>
          </a:prstGeom>
        </p:spPr>
      </p:pic>
      <p:sp>
        <p:nvSpPr>
          <p:cNvPr id="6" name="TextBox 6"/>
          <p:cNvSpPr txBox="1"/>
          <p:nvPr/>
        </p:nvSpPr>
        <p:spPr>
          <a:xfrm>
            <a:off x="13895582" y="8957718"/>
            <a:ext cx="1934170" cy="496389"/>
          </a:xfrm>
          <a:prstGeom prst="rect">
            <a:avLst/>
          </a:prstGeom>
        </p:spPr>
        <p:txBody>
          <a:bodyPr lIns="0" tIns="0" rIns="0" bIns="0" rtlCol="0" anchor="t">
            <a:spAutoFit/>
          </a:bodyPr>
          <a:lstStyle/>
          <a:p>
            <a:pPr algn="just">
              <a:lnSpc>
                <a:spcPts val="4165"/>
              </a:lnSpc>
              <a:spcBef>
                <a:spcPct val="0"/>
              </a:spcBef>
            </a:pPr>
            <a:r>
              <a:rPr lang="en-US" sz="2603" u="none" strike="noStrike">
                <a:solidFill>
                  <a:srgbClr val="FFFFFF"/>
                </a:solidFill>
                <a:latin typeface="Open Sans"/>
                <a:ea typeface="Open Sans"/>
                <a:cs typeface="Open Sans"/>
                <a:sym typeface="Open Sans"/>
              </a:rPr>
              <a:t>highway-env</a:t>
            </a:r>
          </a:p>
        </p:txBody>
      </p:sp>
    </p:spTree>
  </p:cSld>
  <p:clrMapOvr>
    <a:masterClrMapping/>
  </p:clrMapOvr>
  <p:timing>
    <p:tnLst>
      <p:par>
        <p:cTn id="1" dur="indefinite" restart="never" nodeType="tmRoot">
          <p:childTnLst>
            <p:video>
              <p:cMediaNode vol="0">
                <p:cTn id="2" fill="hold" display="0">
                  <p:stCondLst>
                    <p:cond delay="indefinite"/>
                  </p:stCondLst>
                </p:cTn>
                <p:tgtEl>
                  <p:spTgt spid="5"/>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TextBox 2"/>
          <p:cNvSpPr txBox="1"/>
          <p:nvPr/>
        </p:nvSpPr>
        <p:spPr>
          <a:xfrm>
            <a:off x="337651" y="2701575"/>
            <a:ext cx="9126414" cy="7040608"/>
          </a:xfrm>
          <a:prstGeom prst="rect">
            <a:avLst/>
          </a:prstGeom>
        </p:spPr>
        <p:txBody>
          <a:bodyPr lIns="0" tIns="0" rIns="0" bIns="0" rtlCol="0" anchor="t">
            <a:spAutoFit/>
          </a:bodyPr>
          <a:lstStyle/>
          <a:p>
            <a:pPr algn="l">
              <a:lnSpc>
                <a:spcPts val="4686"/>
              </a:lnSpc>
            </a:pPr>
            <a:r>
              <a:rPr lang="en-US" sz="2603">
                <a:solidFill>
                  <a:srgbClr val="FFFFFF"/>
                </a:solidFill>
                <a:latin typeface="Open Sans"/>
                <a:ea typeface="Open Sans"/>
                <a:cs typeface="Open Sans"/>
                <a:sym typeface="Open Sans"/>
              </a:rPr>
              <a:t>A </a:t>
            </a:r>
            <a:r>
              <a:rPr lang="en-US" sz="2603" b="1">
                <a:solidFill>
                  <a:srgbClr val="FFFFFF"/>
                </a:solidFill>
                <a:latin typeface="Open Sans Bold"/>
                <a:ea typeface="Open Sans Bold"/>
                <a:cs typeface="Open Sans Bold"/>
                <a:sym typeface="Open Sans Bold"/>
              </a:rPr>
              <a:t>Unity-based simulator</a:t>
            </a:r>
            <a:r>
              <a:rPr lang="en-US" sz="2603">
                <a:solidFill>
                  <a:srgbClr val="FFFFFF"/>
                </a:solidFill>
                <a:latin typeface="Open Sans"/>
                <a:ea typeface="Open Sans"/>
                <a:cs typeface="Open Sans"/>
                <a:sym typeface="Open Sans"/>
              </a:rPr>
              <a:t> for small-scale autonomous car experiments.</a:t>
            </a:r>
          </a:p>
          <a:p>
            <a:pPr marL="562110" lvl="1" indent="-281055" algn="l">
              <a:lnSpc>
                <a:spcPts val="4686"/>
              </a:lnSpc>
              <a:buFont typeface="Arial"/>
              <a:buChar char="•"/>
            </a:pPr>
            <a:r>
              <a:rPr lang="en-US" sz="2603">
                <a:solidFill>
                  <a:srgbClr val="FFFFFF"/>
                </a:solidFill>
                <a:latin typeface="Open Sans"/>
                <a:ea typeface="Open Sans"/>
                <a:cs typeface="Open Sans"/>
                <a:sym typeface="Open Sans"/>
              </a:rPr>
              <a:t>Uses a front-facing camera view to simulate the car’s perspective.</a:t>
            </a:r>
          </a:p>
          <a:p>
            <a:pPr marL="562110" lvl="1" indent="-281055" algn="l">
              <a:lnSpc>
                <a:spcPts val="4686"/>
              </a:lnSpc>
              <a:buFont typeface="Arial"/>
              <a:buChar char="•"/>
            </a:pPr>
            <a:r>
              <a:rPr lang="en-US" sz="2603">
                <a:solidFill>
                  <a:srgbClr val="FFFFFF"/>
                </a:solidFill>
                <a:latin typeface="Open Sans"/>
                <a:ea typeface="Open Sans"/>
                <a:cs typeface="Open Sans"/>
                <a:sym typeface="Open Sans"/>
              </a:rPr>
              <a:t>Supports steering control, path following, and obstacle avoidance tasks.</a:t>
            </a:r>
          </a:p>
          <a:p>
            <a:pPr marL="562110" lvl="1" indent="-281055" algn="l">
              <a:lnSpc>
                <a:spcPts val="4686"/>
              </a:lnSpc>
              <a:buFont typeface="Arial"/>
              <a:buChar char="•"/>
            </a:pPr>
            <a:r>
              <a:rPr lang="en-US" sz="2603">
                <a:solidFill>
                  <a:srgbClr val="FFFFFF"/>
                </a:solidFill>
                <a:latin typeface="Open Sans"/>
                <a:ea typeface="Open Sans"/>
                <a:cs typeface="Open Sans"/>
                <a:sym typeface="Open Sans"/>
              </a:rPr>
              <a:t>The model is trained on virtual driving data, enabling easy transfer to a real car with minor adjustments.</a:t>
            </a:r>
          </a:p>
          <a:p>
            <a:pPr marL="562110" lvl="1" indent="-281055" algn="l">
              <a:lnSpc>
                <a:spcPts val="4686"/>
              </a:lnSpc>
              <a:buFont typeface="Arial"/>
              <a:buChar char="•"/>
            </a:pPr>
            <a:r>
              <a:rPr lang="en-US" sz="2603">
                <a:solidFill>
                  <a:srgbClr val="FFFFFF"/>
                </a:solidFill>
                <a:latin typeface="Open Sans"/>
                <a:ea typeface="Open Sans"/>
                <a:cs typeface="Open Sans"/>
                <a:sym typeface="Open Sans"/>
              </a:rPr>
              <a:t>Integrates seamlessly with real hardware (e.g., Raspberry Pi and camera), bridging the gap between simulation and real-world testing.</a:t>
            </a:r>
          </a:p>
          <a:p>
            <a:pPr algn="l">
              <a:lnSpc>
                <a:spcPts val="4686"/>
              </a:lnSpc>
            </a:pPr>
            <a:endParaRPr lang="en-US" sz="2603">
              <a:solidFill>
                <a:srgbClr val="FFFFFF"/>
              </a:solidFill>
              <a:latin typeface="Open Sans"/>
              <a:ea typeface="Open Sans"/>
              <a:cs typeface="Open Sans"/>
              <a:sym typeface="Open Sans"/>
            </a:endParaRPr>
          </a:p>
        </p:txBody>
      </p:sp>
      <p:sp>
        <p:nvSpPr>
          <p:cNvPr id="3" name="TextBox 3"/>
          <p:cNvSpPr txBox="1"/>
          <p:nvPr/>
        </p:nvSpPr>
        <p:spPr>
          <a:xfrm>
            <a:off x="337651" y="1503398"/>
            <a:ext cx="8151495" cy="694563"/>
          </a:xfrm>
          <a:prstGeom prst="rect">
            <a:avLst/>
          </a:prstGeom>
        </p:spPr>
        <p:txBody>
          <a:bodyPr lIns="0" tIns="0" rIns="0" bIns="0" rtlCol="0" anchor="t">
            <a:spAutoFit/>
          </a:bodyPr>
          <a:lstStyle/>
          <a:p>
            <a:pPr marL="0" lvl="0" indent="0" algn="just">
              <a:lnSpc>
                <a:spcPts val="5220"/>
              </a:lnSpc>
              <a:spcBef>
                <a:spcPct val="0"/>
              </a:spcBef>
            </a:pPr>
            <a:r>
              <a:rPr lang="en-US" sz="5220" b="1" u="none" strike="noStrike" spc="-5">
                <a:solidFill>
                  <a:srgbClr val="FFFFFF"/>
                </a:solidFill>
                <a:latin typeface="Open Sans Bold"/>
                <a:ea typeface="Open Sans Bold"/>
                <a:cs typeface="Open Sans Bold"/>
                <a:sym typeface="Open Sans Bold"/>
              </a:rPr>
              <a:t>DONKEYCAR SIMULATOR</a:t>
            </a:r>
          </a:p>
        </p:txBody>
      </p:sp>
      <p:sp>
        <p:nvSpPr>
          <p:cNvPr id="4" name="Freeform 4"/>
          <p:cNvSpPr/>
          <p:nvPr/>
        </p:nvSpPr>
        <p:spPr>
          <a:xfrm rot="-1808634" flipH="1" flipV="1">
            <a:off x="-2948930" y="-2831671"/>
            <a:ext cx="17642855" cy="7248273"/>
          </a:xfrm>
          <a:custGeom>
            <a:avLst/>
            <a:gdLst/>
            <a:ahLst/>
            <a:cxnLst/>
            <a:rect l="l" t="t" r="r" b="b"/>
            <a:pathLst>
              <a:path w="17642855" h="7248273">
                <a:moveTo>
                  <a:pt x="17642854" y="7248273"/>
                </a:moveTo>
                <a:lnTo>
                  <a:pt x="0" y="7248273"/>
                </a:lnTo>
                <a:lnTo>
                  <a:pt x="0" y="0"/>
                </a:lnTo>
                <a:lnTo>
                  <a:pt x="17642854" y="0"/>
                </a:lnTo>
                <a:lnTo>
                  <a:pt x="17642854" y="7248273"/>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1401242" y="1226791"/>
            <a:ext cx="6608374" cy="4157443"/>
            <a:chOff x="0" y="0"/>
            <a:chExt cx="8811166" cy="5543257"/>
          </a:xfrm>
        </p:grpSpPr>
        <p:pic>
          <p:nvPicPr>
            <p:cNvPr id="6" name="Picture 6"/>
            <p:cNvPicPr>
              <a:picLocks noChangeAspect="1"/>
            </p:cNvPicPr>
            <p:nvPr/>
          </p:nvPicPr>
          <p:blipFill>
            <a:blip r:embed="rId4"/>
            <a:srcRect l="5294" r="5294"/>
            <a:stretch>
              <a:fillRect/>
            </a:stretch>
          </p:blipFill>
          <p:spPr>
            <a:xfrm>
              <a:off x="0" y="0"/>
              <a:ext cx="8811166" cy="5543257"/>
            </a:xfrm>
            <a:prstGeom prst="rect">
              <a:avLst/>
            </a:prstGeom>
          </p:spPr>
        </p:pic>
      </p:grpSp>
      <p:grpSp>
        <p:nvGrpSpPr>
          <p:cNvPr id="7" name="Group 7"/>
          <p:cNvGrpSpPr/>
          <p:nvPr/>
        </p:nvGrpSpPr>
        <p:grpSpPr>
          <a:xfrm>
            <a:off x="9725831" y="5680534"/>
            <a:ext cx="6627501" cy="4061650"/>
            <a:chOff x="0" y="0"/>
            <a:chExt cx="8836668" cy="5415533"/>
          </a:xfrm>
        </p:grpSpPr>
        <p:pic>
          <p:nvPicPr>
            <p:cNvPr id="8" name="Picture 8"/>
            <p:cNvPicPr>
              <a:picLocks noChangeAspect="1"/>
            </p:cNvPicPr>
            <p:nvPr/>
          </p:nvPicPr>
          <p:blipFill>
            <a:blip r:embed="rId5"/>
            <a:srcRect t="947" b="947"/>
            <a:stretch>
              <a:fillRect/>
            </a:stretch>
          </p:blipFill>
          <p:spPr>
            <a:xfrm>
              <a:off x="0" y="0"/>
              <a:ext cx="8836668" cy="5415533"/>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rot="-10800000" flipH="1" flipV="1">
            <a:off x="-3789800" y="4871753"/>
            <a:ext cx="17642855" cy="7248273"/>
          </a:xfrm>
          <a:custGeom>
            <a:avLst/>
            <a:gdLst/>
            <a:ahLst/>
            <a:cxnLst/>
            <a:rect l="l" t="t" r="r" b="b"/>
            <a:pathLst>
              <a:path w="17642855" h="7248273">
                <a:moveTo>
                  <a:pt x="17642855" y="7248272"/>
                </a:moveTo>
                <a:lnTo>
                  <a:pt x="0" y="7248272"/>
                </a:lnTo>
                <a:lnTo>
                  <a:pt x="0" y="0"/>
                </a:lnTo>
                <a:lnTo>
                  <a:pt x="17642855" y="0"/>
                </a:lnTo>
                <a:lnTo>
                  <a:pt x="17642855" y="7248272"/>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378322" y="2350006"/>
            <a:ext cx="2088074" cy="1755158"/>
            <a:chOff x="0" y="0"/>
            <a:chExt cx="2784098" cy="2340211"/>
          </a:xfrm>
        </p:grpSpPr>
        <p:pic>
          <p:nvPicPr>
            <p:cNvPr id="4" name="Picture 4"/>
            <p:cNvPicPr>
              <a:picLocks noChangeAspect="1"/>
            </p:cNvPicPr>
            <p:nvPr/>
          </p:nvPicPr>
          <p:blipFill>
            <a:blip r:embed="rId4"/>
            <a:srcRect t="7971" b="7971"/>
            <a:stretch>
              <a:fillRect/>
            </a:stretch>
          </p:blipFill>
          <p:spPr>
            <a:xfrm>
              <a:off x="0" y="0"/>
              <a:ext cx="2784098" cy="2340211"/>
            </a:xfrm>
            <a:prstGeom prst="rect">
              <a:avLst/>
            </a:prstGeom>
          </p:spPr>
        </p:pic>
      </p:grpSp>
      <p:grpSp>
        <p:nvGrpSpPr>
          <p:cNvPr id="5" name="Group 5"/>
          <p:cNvGrpSpPr/>
          <p:nvPr/>
        </p:nvGrpSpPr>
        <p:grpSpPr>
          <a:xfrm>
            <a:off x="7422579" y="6453250"/>
            <a:ext cx="2043817" cy="1695810"/>
            <a:chOff x="0" y="0"/>
            <a:chExt cx="2725089" cy="2261080"/>
          </a:xfrm>
        </p:grpSpPr>
        <p:pic>
          <p:nvPicPr>
            <p:cNvPr id="6" name="Picture 6"/>
            <p:cNvPicPr>
              <a:picLocks noChangeAspect="1"/>
            </p:cNvPicPr>
            <p:nvPr/>
          </p:nvPicPr>
          <p:blipFill>
            <a:blip r:embed="rId5"/>
            <a:srcRect l="112" t="16451" r="1085" b="1569"/>
            <a:stretch>
              <a:fillRect/>
            </a:stretch>
          </p:blipFill>
          <p:spPr>
            <a:xfrm>
              <a:off x="0" y="0"/>
              <a:ext cx="2725089" cy="2261080"/>
            </a:xfrm>
            <a:prstGeom prst="rect">
              <a:avLst/>
            </a:prstGeom>
          </p:spPr>
        </p:pic>
      </p:grpSp>
      <p:grpSp>
        <p:nvGrpSpPr>
          <p:cNvPr id="7" name="Group 7"/>
          <p:cNvGrpSpPr/>
          <p:nvPr/>
        </p:nvGrpSpPr>
        <p:grpSpPr>
          <a:xfrm>
            <a:off x="7422579" y="4511942"/>
            <a:ext cx="2043817" cy="1610897"/>
            <a:chOff x="0" y="0"/>
            <a:chExt cx="2725089" cy="2147862"/>
          </a:xfrm>
        </p:grpSpPr>
        <p:pic>
          <p:nvPicPr>
            <p:cNvPr id="8" name="Picture 8"/>
            <p:cNvPicPr>
              <a:picLocks noChangeAspect="1"/>
            </p:cNvPicPr>
            <p:nvPr/>
          </p:nvPicPr>
          <p:blipFill>
            <a:blip r:embed="rId6"/>
            <a:srcRect l="13300" t="18608" r="5775" b="17608"/>
            <a:stretch>
              <a:fillRect/>
            </a:stretch>
          </p:blipFill>
          <p:spPr>
            <a:xfrm>
              <a:off x="0" y="0"/>
              <a:ext cx="2725089" cy="2147862"/>
            </a:xfrm>
            <a:prstGeom prst="rect">
              <a:avLst/>
            </a:prstGeom>
          </p:spPr>
        </p:pic>
      </p:grpSp>
      <p:sp>
        <p:nvSpPr>
          <p:cNvPr id="9" name="TextBox 9"/>
          <p:cNvSpPr txBox="1"/>
          <p:nvPr/>
        </p:nvSpPr>
        <p:spPr>
          <a:xfrm>
            <a:off x="304622" y="966865"/>
            <a:ext cx="14235914" cy="694563"/>
          </a:xfrm>
          <a:prstGeom prst="rect">
            <a:avLst/>
          </a:prstGeom>
        </p:spPr>
        <p:txBody>
          <a:bodyPr lIns="0" tIns="0" rIns="0" bIns="0" rtlCol="0" anchor="t">
            <a:spAutoFit/>
          </a:bodyPr>
          <a:lstStyle/>
          <a:p>
            <a:pPr algn="just">
              <a:lnSpc>
                <a:spcPts val="5220"/>
              </a:lnSpc>
            </a:pPr>
            <a:r>
              <a:rPr lang="en-US" sz="5220" b="1" spc="-5">
                <a:solidFill>
                  <a:srgbClr val="FFFFFF"/>
                </a:solidFill>
                <a:latin typeface="Open Sans Bold"/>
                <a:ea typeface="Open Sans Bold"/>
                <a:cs typeface="Open Sans Bold"/>
                <a:sym typeface="Open Sans Bold"/>
              </a:rPr>
              <a:t>HARDWARE</a:t>
            </a:r>
          </a:p>
        </p:txBody>
      </p:sp>
      <p:sp>
        <p:nvSpPr>
          <p:cNvPr id="10" name="TextBox 10"/>
          <p:cNvSpPr txBox="1"/>
          <p:nvPr/>
        </p:nvSpPr>
        <p:spPr>
          <a:xfrm>
            <a:off x="579933" y="2013853"/>
            <a:ext cx="3664612" cy="378460"/>
          </a:xfrm>
          <a:prstGeom prst="rect">
            <a:avLst/>
          </a:prstGeom>
        </p:spPr>
        <p:txBody>
          <a:bodyPr lIns="0" tIns="0" rIns="0" bIns="0" rtlCol="0" anchor="t">
            <a:spAutoFit/>
          </a:bodyPr>
          <a:lstStyle/>
          <a:p>
            <a:pPr algn="just">
              <a:lnSpc>
                <a:spcPts val="2899"/>
              </a:lnSpc>
            </a:pPr>
            <a:r>
              <a:rPr lang="en-US" sz="2899" b="1" spc="-2">
                <a:solidFill>
                  <a:srgbClr val="FFFFFF"/>
                </a:solidFill>
                <a:latin typeface="Open Sans Bold"/>
                <a:ea typeface="Open Sans Bold"/>
                <a:cs typeface="Open Sans Bold"/>
                <a:sym typeface="Open Sans Bold"/>
              </a:rPr>
              <a:t>1- Processing Unit</a:t>
            </a:r>
          </a:p>
        </p:txBody>
      </p:sp>
      <p:sp>
        <p:nvSpPr>
          <p:cNvPr id="11" name="TextBox 11"/>
          <p:cNvSpPr txBox="1"/>
          <p:nvPr/>
        </p:nvSpPr>
        <p:spPr>
          <a:xfrm>
            <a:off x="579933" y="2687587"/>
            <a:ext cx="6511034" cy="1284351"/>
          </a:xfrm>
          <a:prstGeom prst="rect">
            <a:avLst/>
          </a:prstGeom>
        </p:spPr>
        <p:txBody>
          <a:bodyPr lIns="0" tIns="0" rIns="0" bIns="0" rtlCol="0" anchor="t">
            <a:spAutoFit/>
          </a:bodyPr>
          <a:lstStyle/>
          <a:p>
            <a:pPr algn="just">
              <a:lnSpc>
                <a:spcPts val="3431"/>
              </a:lnSpc>
            </a:pPr>
            <a:r>
              <a:rPr lang="en-US" sz="2599" b="1" spc="-2">
                <a:solidFill>
                  <a:srgbClr val="FFFFFF"/>
                </a:solidFill>
                <a:latin typeface="Open Sans Bold"/>
                <a:ea typeface="Open Sans Bold"/>
                <a:cs typeface="Open Sans Bold"/>
                <a:sym typeface="Open Sans Bold"/>
              </a:rPr>
              <a:t>Raspberry Pi 4 :</a:t>
            </a:r>
          </a:p>
          <a:p>
            <a:pPr algn="just">
              <a:lnSpc>
                <a:spcPts val="3431"/>
              </a:lnSpc>
            </a:pPr>
            <a:r>
              <a:rPr lang="en-US" sz="2599" spc="-2">
                <a:solidFill>
                  <a:srgbClr val="FFFFFF"/>
                </a:solidFill>
                <a:latin typeface="Open Sans"/>
                <a:ea typeface="Open Sans"/>
                <a:cs typeface="Open Sans"/>
                <a:sym typeface="Open Sans"/>
              </a:rPr>
              <a:t>Main processing board for AI computation and real-time control. </a:t>
            </a:r>
          </a:p>
        </p:txBody>
      </p:sp>
      <p:sp>
        <p:nvSpPr>
          <p:cNvPr id="12" name="TextBox 12"/>
          <p:cNvSpPr txBox="1"/>
          <p:nvPr/>
        </p:nvSpPr>
        <p:spPr>
          <a:xfrm>
            <a:off x="579933" y="4320934"/>
            <a:ext cx="2318659" cy="388893"/>
          </a:xfrm>
          <a:prstGeom prst="rect">
            <a:avLst/>
          </a:prstGeom>
        </p:spPr>
        <p:txBody>
          <a:bodyPr lIns="0" tIns="0" rIns="0" bIns="0" rtlCol="0" anchor="t">
            <a:spAutoFit/>
          </a:bodyPr>
          <a:lstStyle/>
          <a:p>
            <a:pPr algn="just">
              <a:lnSpc>
                <a:spcPts val="2935"/>
              </a:lnSpc>
            </a:pPr>
            <a:r>
              <a:rPr lang="en-US" sz="2935" b="1" spc="-2">
                <a:solidFill>
                  <a:srgbClr val="FFFFFF"/>
                </a:solidFill>
                <a:latin typeface="Open Sans Bold"/>
                <a:ea typeface="Open Sans Bold"/>
                <a:cs typeface="Open Sans Bold"/>
                <a:sym typeface="Open Sans Bold"/>
              </a:rPr>
              <a:t>2- Sensors</a:t>
            </a:r>
          </a:p>
        </p:txBody>
      </p:sp>
      <p:sp>
        <p:nvSpPr>
          <p:cNvPr id="13" name="TextBox 13"/>
          <p:cNvSpPr txBox="1"/>
          <p:nvPr/>
        </p:nvSpPr>
        <p:spPr>
          <a:xfrm>
            <a:off x="579933" y="4850538"/>
            <a:ext cx="6511034" cy="1164082"/>
          </a:xfrm>
          <a:prstGeom prst="rect">
            <a:avLst/>
          </a:prstGeom>
        </p:spPr>
        <p:txBody>
          <a:bodyPr lIns="0" tIns="0" rIns="0" bIns="0" rtlCol="0" anchor="t">
            <a:spAutoFit/>
          </a:bodyPr>
          <a:lstStyle/>
          <a:p>
            <a:pPr algn="just">
              <a:lnSpc>
                <a:spcPts val="2599"/>
              </a:lnSpc>
            </a:pPr>
            <a:r>
              <a:rPr lang="en-US" sz="2599" b="1" spc="-2">
                <a:solidFill>
                  <a:srgbClr val="FFFFFF"/>
                </a:solidFill>
                <a:latin typeface="Open Sans Bold"/>
                <a:ea typeface="Open Sans Bold"/>
                <a:cs typeface="Open Sans Bold"/>
                <a:sym typeface="Open Sans Bold"/>
              </a:rPr>
              <a:t>Ultrasonic Sensor :</a:t>
            </a:r>
          </a:p>
          <a:p>
            <a:pPr algn="just">
              <a:lnSpc>
                <a:spcPts val="3457"/>
              </a:lnSpc>
            </a:pPr>
            <a:r>
              <a:rPr lang="en-US" sz="2599" spc="-2">
                <a:solidFill>
                  <a:srgbClr val="FFFFFF"/>
                </a:solidFill>
                <a:latin typeface="Open Sans"/>
                <a:ea typeface="Open Sans"/>
                <a:cs typeface="Open Sans"/>
                <a:sym typeface="Open Sans"/>
              </a:rPr>
              <a:t>Measure distance to obstacles for collision avoidance.</a:t>
            </a:r>
          </a:p>
        </p:txBody>
      </p:sp>
      <p:sp>
        <p:nvSpPr>
          <p:cNvPr id="14" name="TextBox 14"/>
          <p:cNvSpPr txBox="1"/>
          <p:nvPr/>
        </p:nvSpPr>
        <p:spPr>
          <a:xfrm>
            <a:off x="482919" y="6434200"/>
            <a:ext cx="6511034" cy="1606042"/>
          </a:xfrm>
          <a:prstGeom prst="rect">
            <a:avLst/>
          </a:prstGeom>
        </p:spPr>
        <p:txBody>
          <a:bodyPr lIns="0" tIns="0" rIns="0" bIns="0" rtlCol="0" anchor="t">
            <a:spAutoFit/>
          </a:bodyPr>
          <a:lstStyle/>
          <a:p>
            <a:pPr algn="just">
              <a:lnSpc>
                <a:spcPts val="3223"/>
              </a:lnSpc>
            </a:pPr>
            <a:r>
              <a:rPr lang="en-US" sz="2599" b="1" spc="-2">
                <a:solidFill>
                  <a:srgbClr val="FFFFFF"/>
                </a:solidFill>
                <a:latin typeface="Open Sans Bold"/>
                <a:ea typeface="Open Sans Bold"/>
                <a:cs typeface="Open Sans Bold"/>
                <a:sym typeface="Open Sans Bold"/>
              </a:rPr>
              <a:t>Camera Module : </a:t>
            </a:r>
            <a:r>
              <a:rPr lang="en-US" sz="2599" spc="-2">
                <a:solidFill>
                  <a:srgbClr val="FFFFFF"/>
                </a:solidFill>
                <a:latin typeface="Open Sans"/>
                <a:ea typeface="Open Sans"/>
                <a:cs typeface="Open Sans"/>
                <a:sym typeface="Open Sans"/>
              </a:rPr>
              <a:t>Captures visual input for object detection and environment analysis.</a:t>
            </a:r>
          </a:p>
          <a:p>
            <a:pPr algn="just">
              <a:lnSpc>
                <a:spcPts val="3223"/>
              </a:lnSpc>
            </a:pPr>
            <a:endParaRPr lang="en-US" sz="2599" spc="-2">
              <a:solidFill>
                <a:srgbClr val="FFFFFF"/>
              </a:solidFill>
              <a:latin typeface="Open Sans"/>
              <a:ea typeface="Open Sans"/>
              <a:cs typeface="Open Sans"/>
              <a:sym typeface="Open Sans"/>
            </a:endParaRPr>
          </a:p>
        </p:txBody>
      </p:sp>
      <p:grpSp>
        <p:nvGrpSpPr>
          <p:cNvPr id="15" name="Group 15"/>
          <p:cNvGrpSpPr/>
          <p:nvPr/>
        </p:nvGrpSpPr>
        <p:grpSpPr>
          <a:xfrm>
            <a:off x="15919055" y="4052512"/>
            <a:ext cx="1951546" cy="1739787"/>
            <a:chOff x="0" y="0"/>
            <a:chExt cx="2602062" cy="2319716"/>
          </a:xfrm>
        </p:grpSpPr>
        <p:pic>
          <p:nvPicPr>
            <p:cNvPr id="16" name="Picture 16"/>
            <p:cNvPicPr>
              <a:picLocks noChangeAspect="1"/>
            </p:cNvPicPr>
            <p:nvPr/>
          </p:nvPicPr>
          <p:blipFill>
            <a:blip r:embed="rId7"/>
            <a:srcRect t="5425" b="5425"/>
            <a:stretch>
              <a:fillRect/>
            </a:stretch>
          </p:blipFill>
          <p:spPr>
            <a:xfrm>
              <a:off x="0" y="0"/>
              <a:ext cx="2602062" cy="2319716"/>
            </a:xfrm>
            <a:prstGeom prst="rect">
              <a:avLst/>
            </a:prstGeom>
          </p:spPr>
        </p:pic>
      </p:grpSp>
      <p:grpSp>
        <p:nvGrpSpPr>
          <p:cNvPr id="17" name="Group 17"/>
          <p:cNvGrpSpPr/>
          <p:nvPr/>
        </p:nvGrpSpPr>
        <p:grpSpPr>
          <a:xfrm>
            <a:off x="15883424" y="2174507"/>
            <a:ext cx="2022807" cy="1579626"/>
            <a:chOff x="0" y="0"/>
            <a:chExt cx="2697076" cy="2106168"/>
          </a:xfrm>
        </p:grpSpPr>
        <p:pic>
          <p:nvPicPr>
            <p:cNvPr id="18" name="Picture 18"/>
            <p:cNvPicPr>
              <a:picLocks noChangeAspect="1"/>
            </p:cNvPicPr>
            <p:nvPr/>
          </p:nvPicPr>
          <p:blipFill>
            <a:blip r:embed="rId8"/>
            <a:srcRect t="10954" b="10954"/>
            <a:stretch>
              <a:fillRect/>
            </a:stretch>
          </p:blipFill>
          <p:spPr>
            <a:xfrm>
              <a:off x="0" y="0"/>
              <a:ext cx="2697076" cy="2106168"/>
            </a:xfrm>
            <a:prstGeom prst="rect">
              <a:avLst/>
            </a:prstGeom>
          </p:spPr>
        </p:pic>
      </p:grpSp>
      <p:sp>
        <p:nvSpPr>
          <p:cNvPr id="19" name="TextBox 19"/>
          <p:cNvSpPr txBox="1"/>
          <p:nvPr/>
        </p:nvSpPr>
        <p:spPr>
          <a:xfrm>
            <a:off x="10106185" y="2013853"/>
            <a:ext cx="3580128" cy="378460"/>
          </a:xfrm>
          <a:prstGeom prst="rect">
            <a:avLst/>
          </a:prstGeom>
        </p:spPr>
        <p:txBody>
          <a:bodyPr lIns="0" tIns="0" rIns="0" bIns="0" rtlCol="0" anchor="t">
            <a:spAutoFit/>
          </a:bodyPr>
          <a:lstStyle/>
          <a:p>
            <a:pPr algn="just">
              <a:lnSpc>
                <a:spcPts val="2899"/>
              </a:lnSpc>
            </a:pPr>
            <a:r>
              <a:rPr lang="en-US" sz="2899" b="1" spc="-2">
                <a:solidFill>
                  <a:srgbClr val="FFFFFF"/>
                </a:solidFill>
                <a:latin typeface="Open Sans Bold"/>
                <a:ea typeface="Open Sans Bold"/>
                <a:cs typeface="Open Sans Bold"/>
                <a:sym typeface="Open Sans Bold"/>
              </a:rPr>
              <a:t>3- Vehicle Platform</a:t>
            </a:r>
          </a:p>
        </p:txBody>
      </p:sp>
      <p:sp>
        <p:nvSpPr>
          <p:cNvPr id="20" name="TextBox 20"/>
          <p:cNvSpPr txBox="1"/>
          <p:nvPr/>
        </p:nvSpPr>
        <p:spPr>
          <a:xfrm>
            <a:off x="10053426" y="2700273"/>
            <a:ext cx="5499208" cy="1259459"/>
          </a:xfrm>
          <a:prstGeom prst="rect">
            <a:avLst/>
          </a:prstGeom>
        </p:spPr>
        <p:txBody>
          <a:bodyPr lIns="0" tIns="0" rIns="0" bIns="0" rtlCol="0" anchor="t">
            <a:spAutoFit/>
          </a:bodyPr>
          <a:lstStyle/>
          <a:p>
            <a:pPr algn="just">
              <a:lnSpc>
                <a:spcPts val="3327"/>
              </a:lnSpc>
            </a:pPr>
            <a:r>
              <a:rPr lang="en-US" sz="2599" b="1" spc="-2">
                <a:solidFill>
                  <a:srgbClr val="FFFFFF"/>
                </a:solidFill>
                <a:latin typeface="Open Sans Bold"/>
                <a:ea typeface="Open Sans Bold"/>
                <a:cs typeface="Open Sans Bold"/>
                <a:sym typeface="Open Sans Bold"/>
              </a:rPr>
              <a:t>RC Car Chassis 4WD : </a:t>
            </a:r>
            <a:r>
              <a:rPr lang="en-US" sz="2599" spc="-2">
                <a:solidFill>
                  <a:srgbClr val="FFFFFF"/>
                </a:solidFill>
                <a:latin typeface="Open Sans"/>
                <a:ea typeface="Open Sans"/>
                <a:cs typeface="Open Sans"/>
                <a:sym typeface="Open Sans"/>
              </a:rPr>
              <a:t>Four-wheel drive platform for real-world testing of autonomous navigation.</a:t>
            </a:r>
          </a:p>
        </p:txBody>
      </p:sp>
      <p:sp>
        <p:nvSpPr>
          <p:cNvPr id="21" name="TextBox 21"/>
          <p:cNvSpPr txBox="1"/>
          <p:nvPr/>
        </p:nvSpPr>
        <p:spPr>
          <a:xfrm>
            <a:off x="10053426" y="4473842"/>
            <a:ext cx="5307103" cy="859028"/>
          </a:xfrm>
          <a:prstGeom prst="rect">
            <a:avLst/>
          </a:prstGeom>
        </p:spPr>
        <p:txBody>
          <a:bodyPr lIns="0" tIns="0" rIns="0" bIns="0" rtlCol="0" anchor="t">
            <a:spAutoFit/>
          </a:bodyPr>
          <a:lstStyle/>
          <a:p>
            <a:pPr algn="just">
              <a:lnSpc>
                <a:spcPts val="3405"/>
              </a:lnSpc>
            </a:pPr>
            <a:r>
              <a:rPr lang="en-US" sz="2599" b="1" spc="-142">
                <a:solidFill>
                  <a:srgbClr val="FFFFFF"/>
                </a:solidFill>
                <a:latin typeface="Open Sans Bold"/>
                <a:ea typeface="Open Sans Bold"/>
                <a:cs typeface="Open Sans Bold"/>
                <a:sym typeface="Open Sans Bold"/>
              </a:rPr>
              <a:t>Motor Driver (L298N) : </a:t>
            </a:r>
            <a:r>
              <a:rPr lang="en-US" sz="2599" spc="-142">
                <a:solidFill>
                  <a:srgbClr val="FFFFFF"/>
                </a:solidFill>
                <a:latin typeface="Open Sans"/>
                <a:ea typeface="Open Sans"/>
                <a:cs typeface="Open Sans"/>
                <a:sym typeface="Open Sans"/>
              </a:rPr>
              <a:t>Controls the motors of the chassis.</a:t>
            </a:r>
          </a:p>
        </p:txBody>
      </p:sp>
      <p:grpSp>
        <p:nvGrpSpPr>
          <p:cNvPr id="22" name="Group 22"/>
          <p:cNvGrpSpPr/>
          <p:nvPr/>
        </p:nvGrpSpPr>
        <p:grpSpPr>
          <a:xfrm>
            <a:off x="10888277" y="7301155"/>
            <a:ext cx="1952064" cy="1778016"/>
            <a:chOff x="0" y="0"/>
            <a:chExt cx="2602752" cy="2370688"/>
          </a:xfrm>
        </p:grpSpPr>
        <p:pic>
          <p:nvPicPr>
            <p:cNvPr id="23" name="Picture 23"/>
            <p:cNvPicPr>
              <a:picLocks noChangeAspect="1"/>
            </p:cNvPicPr>
            <p:nvPr/>
          </p:nvPicPr>
          <p:blipFill>
            <a:blip r:embed="rId9"/>
            <a:srcRect l="6669" r="7994" b="9619"/>
            <a:stretch>
              <a:fillRect/>
            </a:stretch>
          </p:blipFill>
          <p:spPr>
            <a:xfrm>
              <a:off x="0" y="0"/>
              <a:ext cx="2602752" cy="2370688"/>
            </a:xfrm>
            <a:prstGeom prst="rect">
              <a:avLst/>
            </a:prstGeom>
          </p:spPr>
        </p:pic>
      </p:grpSp>
      <p:grpSp>
        <p:nvGrpSpPr>
          <p:cNvPr id="24" name="Group 24"/>
          <p:cNvGrpSpPr/>
          <p:nvPr/>
        </p:nvGrpSpPr>
        <p:grpSpPr>
          <a:xfrm>
            <a:off x="13330159" y="7240872"/>
            <a:ext cx="2030369" cy="1816377"/>
            <a:chOff x="0" y="0"/>
            <a:chExt cx="2707159" cy="2421836"/>
          </a:xfrm>
        </p:grpSpPr>
        <p:pic>
          <p:nvPicPr>
            <p:cNvPr id="25" name="Picture 25"/>
            <p:cNvPicPr>
              <a:picLocks noChangeAspect="1"/>
            </p:cNvPicPr>
            <p:nvPr/>
          </p:nvPicPr>
          <p:blipFill>
            <a:blip r:embed="rId10"/>
            <a:srcRect l="1033" t="11494" r="33"/>
            <a:stretch>
              <a:fillRect/>
            </a:stretch>
          </p:blipFill>
          <p:spPr>
            <a:xfrm>
              <a:off x="0" y="0"/>
              <a:ext cx="2707159" cy="2421836"/>
            </a:xfrm>
            <a:prstGeom prst="rect">
              <a:avLst/>
            </a:prstGeom>
          </p:spPr>
        </p:pic>
      </p:grpSp>
      <p:sp>
        <p:nvSpPr>
          <p:cNvPr id="26" name="TextBox 26"/>
          <p:cNvSpPr txBox="1"/>
          <p:nvPr/>
        </p:nvSpPr>
        <p:spPr>
          <a:xfrm>
            <a:off x="10053426" y="6078049"/>
            <a:ext cx="6789191" cy="1312477"/>
          </a:xfrm>
          <a:prstGeom prst="rect">
            <a:avLst/>
          </a:prstGeom>
        </p:spPr>
        <p:txBody>
          <a:bodyPr lIns="0" tIns="0" rIns="0" bIns="0" rtlCol="0" anchor="t">
            <a:spAutoFit/>
          </a:bodyPr>
          <a:lstStyle/>
          <a:p>
            <a:pPr algn="just">
              <a:lnSpc>
                <a:spcPts val="3514"/>
              </a:lnSpc>
            </a:pPr>
            <a:r>
              <a:rPr lang="en-US" sz="2603" b="1" spc="-143">
                <a:solidFill>
                  <a:srgbClr val="FFFFFF"/>
                </a:solidFill>
                <a:latin typeface="Open Sans Bold"/>
                <a:ea typeface="Open Sans Bold"/>
                <a:cs typeface="Open Sans Bold"/>
                <a:sym typeface="Open Sans Bold"/>
              </a:rPr>
              <a:t>Electronic Speed Controller (ESC) &amp; Servo :</a:t>
            </a:r>
          </a:p>
          <a:p>
            <a:pPr algn="just">
              <a:lnSpc>
                <a:spcPts val="3514"/>
              </a:lnSpc>
            </a:pPr>
            <a:r>
              <a:rPr lang="en-US" sz="2603" spc="-143">
                <a:solidFill>
                  <a:srgbClr val="FFFFFF"/>
                </a:solidFill>
                <a:latin typeface="Open Sans"/>
                <a:ea typeface="Open Sans"/>
                <a:cs typeface="Open Sans"/>
                <a:sym typeface="Open Sans"/>
              </a:rPr>
              <a:t>Manages speed and steering for precise control.</a:t>
            </a:r>
          </a:p>
          <a:p>
            <a:pPr algn="just">
              <a:lnSpc>
                <a:spcPts val="3514"/>
              </a:lnSpc>
            </a:pPr>
            <a:endParaRPr lang="en-US" sz="2603" spc="-143">
              <a:solidFill>
                <a:srgbClr val="FFFFFF"/>
              </a:solidFill>
              <a:latin typeface="Open Sans"/>
              <a:ea typeface="Open Sans"/>
              <a:cs typeface="Open Sans"/>
              <a:sym typeface="Open Sans"/>
            </a:endParaRPr>
          </a:p>
        </p:txBody>
      </p:sp>
      <p:sp>
        <p:nvSpPr>
          <p:cNvPr id="27" name="TextBox 27"/>
          <p:cNvSpPr txBox="1"/>
          <p:nvPr/>
        </p:nvSpPr>
        <p:spPr>
          <a:xfrm>
            <a:off x="13957942" y="9296400"/>
            <a:ext cx="774803" cy="294005"/>
          </a:xfrm>
          <a:prstGeom prst="rect">
            <a:avLst/>
          </a:prstGeom>
        </p:spPr>
        <p:txBody>
          <a:bodyPr lIns="0" tIns="0" rIns="0" bIns="0" rtlCol="0" anchor="t">
            <a:spAutoFit/>
          </a:bodyPr>
          <a:lstStyle/>
          <a:p>
            <a:pPr algn="just">
              <a:lnSpc>
                <a:spcPts val="2200"/>
              </a:lnSpc>
            </a:pPr>
            <a:r>
              <a:rPr lang="en-US" sz="2200" b="1" spc="-121">
                <a:solidFill>
                  <a:srgbClr val="FFFFFF"/>
                </a:solidFill>
                <a:latin typeface="Open Sans Bold"/>
                <a:ea typeface="Open Sans Bold"/>
                <a:cs typeface="Open Sans Bold"/>
                <a:sym typeface="Open Sans Bold"/>
              </a:rPr>
              <a:t> ESC</a:t>
            </a:r>
          </a:p>
        </p:txBody>
      </p:sp>
      <p:sp>
        <p:nvSpPr>
          <p:cNvPr id="28" name="TextBox 28"/>
          <p:cNvSpPr txBox="1"/>
          <p:nvPr/>
        </p:nvSpPr>
        <p:spPr>
          <a:xfrm>
            <a:off x="11476907" y="9296400"/>
            <a:ext cx="774803" cy="294005"/>
          </a:xfrm>
          <a:prstGeom prst="rect">
            <a:avLst/>
          </a:prstGeom>
        </p:spPr>
        <p:txBody>
          <a:bodyPr lIns="0" tIns="0" rIns="0" bIns="0" rtlCol="0" anchor="t">
            <a:spAutoFit/>
          </a:bodyPr>
          <a:lstStyle/>
          <a:p>
            <a:pPr algn="just">
              <a:lnSpc>
                <a:spcPts val="2200"/>
              </a:lnSpc>
            </a:pPr>
            <a:r>
              <a:rPr lang="en-US" sz="2200" b="1" spc="-121">
                <a:solidFill>
                  <a:srgbClr val="FFFFFF"/>
                </a:solidFill>
                <a:latin typeface="Open Sans Bold"/>
                <a:ea typeface="Open Sans Bold"/>
                <a:cs typeface="Open Sans Bold"/>
                <a:sym typeface="Open Sans Bold"/>
              </a:rPr>
              <a:t>Servo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TextBox 2"/>
          <p:cNvSpPr txBox="1"/>
          <p:nvPr/>
        </p:nvSpPr>
        <p:spPr>
          <a:xfrm>
            <a:off x="610525" y="1863814"/>
            <a:ext cx="11345942" cy="3170466"/>
          </a:xfrm>
          <a:prstGeom prst="rect">
            <a:avLst/>
          </a:prstGeom>
        </p:spPr>
        <p:txBody>
          <a:bodyPr lIns="0" tIns="0" rIns="0" bIns="0" rtlCol="0" anchor="t">
            <a:spAutoFit/>
          </a:bodyPr>
          <a:lstStyle/>
          <a:p>
            <a:pPr algn="l">
              <a:lnSpc>
                <a:spcPts val="4242"/>
              </a:lnSpc>
            </a:pPr>
            <a:r>
              <a:rPr lang="en-US" sz="2651">
                <a:solidFill>
                  <a:srgbClr val="FFFFFF"/>
                </a:solidFill>
                <a:latin typeface="Open Sans"/>
                <a:ea typeface="Open Sans"/>
                <a:cs typeface="Open Sans"/>
                <a:sym typeface="Open Sans"/>
              </a:rPr>
              <a:t>We’ll test the prototype in controlled environments, such as:</a:t>
            </a:r>
          </a:p>
          <a:p>
            <a:pPr marL="572515" lvl="1" indent="-286257" algn="l">
              <a:lnSpc>
                <a:spcPts val="4242"/>
              </a:lnSpc>
              <a:buFont typeface="Arial"/>
              <a:buChar char="•"/>
            </a:pPr>
            <a:r>
              <a:rPr lang="en-US" sz="2651">
                <a:solidFill>
                  <a:srgbClr val="FFFFFF"/>
                </a:solidFill>
                <a:latin typeface="Open Sans"/>
                <a:ea typeface="Open Sans"/>
                <a:cs typeface="Open Sans"/>
                <a:sym typeface="Open Sans"/>
              </a:rPr>
              <a:t>A small track with lane markings.</a:t>
            </a:r>
          </a:p>
          <a:p>
            <a:pPr marL="572515" lvl="1" indent="-286257" algn="l">
              <a:lnSpc>
                <a:spcPts val="4242"/>
              </a:lnSpc>
              <a:buFont typeface="Arial"/>
              <a:buChar char="•"/>
            </a:pPr>
            <a:r>
              <a:rPr lang="en-US" sz="2651">
                <a:solidFill>
                  <a:srgbClr val="FFFFFF"/>
                </a:solidFill>
                <a:latin typeface="Open Sans"/>
                <a:ea typeface="Open Sans"/>
                <a:cs typeface="Open Sans"/>
                <a:sym typeface="Open Sans"/>
              </a:rPr>
              <a:t>Obstacles represented by toy cars or pedestrians (LEGO, boxes, etc.).</a:t>
            </a:r>
          </a:p>
          <a:p>
            <a:pPr marL="572515" lvl="1" indent="-286257" algn="l">
              <a:lnSpc>
                <a:spcPts val="4242"/>
              </a:lnSpc>
              <a:buFont typeface="Arial"/>
              <a:buChar char="•"/>
            </a:pPr>
            <a:r>
              <a:rPr lang="en-US" sz="2651">
                <a:solidFill>
                  <a:srgbClr val="FFFFFF"/>
                </a:solidFill>
                <a:latin typeface="Open Sans"/>
                <a:ea typeface="Open Sans"/>
                <a:cs typeface="Open Sans"/>
                <a:sym typeface="Open Sans"/>
              </a:rPr>
              <a:t>Detecting obstacles accurately.</a:t>
            </a:r>
          </a:p>
          <a:p>
            <a:pPr marL="572515" lvl="1" indent="-286257" algn="l">
              <a:lnSpc>
                <a:spcPts val="4242"/>
              </a:lnSpc>
              <a:buFont typeface="Arial"/>
              <a:buChar char="•"/>
            </a:pPr>
            <a:r>
              <a:rPr lang="en-US" sz="2651">
                <a:solidFill>
                  <a:srgbClr val="FFFFFF"/>
                </a:solidFill>
                <a:latin typeface="Open Sans"/>
                <a:ea typeface="Open Sans"/>
                <a:cs typeface="Open Sans"/>
                <a:sym typeface="Open Sans"/>
              </a:rPr>
              <a:t>Responding safely (stop, slow down, or steer around).</a:t>
            </a:r>
          </a:p>
          <a:p>
            <a:pPr marL="572515" lvl="1" indent="-286257" algn="l">
              <a:lnSpc>
                <a:spcPts val="4242"/>
              </a:lnSpc>
              <a:buFont typeface="Arial"/>
              <a:buChar char="•"/>
            </a:pPr>
            <a:r>
              <a:rPr lang="en-US" sz="2651">
                <a:solidFill>
                  <a:srgbClr val="FFFFFF"/>
                </a:solidFill>
                <a:latin typeface="Open Sans"/>
                <a:ea typeface="Open Sans"/>
                <a:cs typeface="Open Sans"/>
                <a:sym typeface="Open Sans"/>
              </a:rPr>
              <a:t>Maintaining smooth motion and stable control.</a:t>
            </a:r>
          </a:p>
        </p:txBody>
      </p:sp>
      <p:sp>
        <p:nvSpPr>
          <p:cNvPr id="3" name="Freeform 3"/>
          <p:cNvSpPr/>
          <p:nvPr/>
        </p:nvSpPr>
        <p:spPr>
          <a:xfrm flipH="1" flipV="1">
            <a:off x="4093475" y="-2499679"/>
            <a:ext cx="17642855" cy="7248273"/>
          </a:xfrm>
          <a:custGeom>
            <a:avLst/>
            <a:gdLst/>
            <a:ahLst/>
            <a:cxnLst/>
            <a:rect l="l" t="t" r="r" b="b"/>
            <a:pathLst>
              <a:path w="17642855" h="7248273">
                <a:moveTo>
                  <a:pt x="17642854" y="7248273"/>
                </a:moveTo>
                <a:lnTo>
                  <a:pt x="0" y="7248273"/>
                </a:lnTo>
                <a:lnTo>
                  <a:pt x="0" y="0"/>
                </a:lnTo>
                <a:lnTo>
                  <a:pt x="17642854" y="0"/>
                </a:lnTo>
                <a:lnTo>
                  <a:pt x="17642854" y="724827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429057" y="5591175"/>
            <a:ext cx="8383448" cy="4243123"/>
          </a:xfrm>
          <a:custGeom>
            <a:avLst/>
            <a:gdLst/>
            <a:ahLst/>
            <a:cxnLst/>
            <a:rect l="l" t="t" r="r" b="b"/>
            <a:pathLst>
              <a:path w="8383448" h="4243123">
                <a:moveTo>
                  <a:pt x="0" y="0"/>
                </a:moveTo>
                <a:lnTo>
                  <a:pt x="8383448" y="0"/>
                </a:lnTo>
                <a:lnTo>
                  <a:pt x="8383448" y="4243123"/>
                </a:lnTo>
                <a:lnTo>
                  <a:pt x="0" y="4243123"/>
                </a:lnTo>
                <a:lnTo>
                  <a:pt x="0" y="0"/>
                </a:lnTo>
                <a:close/>
              </a:path>
            </a:pathLst>
          </a:custGeom>
          <a:blipFill>
            <a:blip r:embed="rId4"/>
            <a:stretch>
              <a:fillRect l="-2330" t="-6521" b="-6521"/>
            </a:stretch>
          </a:blipFill>
        </p:spPr>
      </p:sp>
      <p:sp>
        <p:nvSpPr>
          <p:cNvPr id="5" name="Freeform 5"/>
          <p:cNvSpPr/>
          <p:nvPr/>
        </p:nvSpPr>
        <p:spPr>
          <a:xfrm>
            <a:off x="610525" y="5591175"/>
            <a:ext cx="8668536" cy="4243123"/>
          </a:xfrm>
          <a:custGeom>
            <a:avLst/>
            <a:gdLst/>
            <a:ahLst/>
            <a:cxnLst/>
            <a:rect l="l" t="t" r="r" b="b"/>
            <a:pathLst>
              <a:path w="8668536" h="4243123">
                <a:moveTo>
                  <a:pt x="0" y="0"/>
                </a:moveTo>
                <a:lnTo>
                  <a:pt x="8668535" y="0"/>
                </a:lnTo>
                <a:lnTo>
                  <a:pt x="8668535" y="4243123"/>
                </a:lnTo>
                <a:lnTo>
                  <a:pt x="0" y="4243123"/>
                </a:lnTo>
                <a:lnTo>
                  <a:pt x="0" y="0"/>
                </a:lnTo>
                <a:close/>
              </a:path>
            </a:pathLst>
          </a:custGeom>
          <a:blipFill>
            <a:blip r:embed="rId5"/>
            <a:stretch>
              <a:fillRect r="-706" b="-15728"/>
            </a:stretch>
          </a:blipFill>
        </p:spPr>
      </p:sp>
      <p:sp>
        <p:nvSpPr>
          <p:cNvPr id="6" name="TextBox 6"/>
          <p:cNvSpPr txBox="1"/>
          <p:nvPr/>
        </p:nvSpPr>
        <p:spPr>
          <a:xfrm>
            <a:off x="475464" y="826351"/>
            <a:ext cx="12324159" cy="694563"/>
          </a:xfrm>
          <a:prstGeom prst="rect">
            <a:avLst/>
          </a:prstGeom>
        </p:spPr>
        <p:txBody>
          <a:bodyPr lIns="0" tIns="0" rIns="0" bIns="0" rtlCol="0" anchor="t">
            <a:spAutoFit/>
          </a:bodyPr>
          <a:lstStyle/>
          <a:p>
            <a:pPr marL="0" lvl="0" indent="0" algn="just">
              <a:lnSpc>
                <a:spcPts val="5220"/>
              </a:lnSpc>
              <a:spcBef>
                <a:spcPct val="0"/>
              </a:spcBef>
            </a:pPr>
            <a:r>
              <a:rPr lang="en-US" sz="5220" b="1" u="none" strike="noStrike" spc="-5">
                <a:solidFill>
                  <a:srgbClr val="FFFFFF"/>
                </a:solidFill>
                <a:latin typeface="Open Sans Bold"/>
                <a:ea typeface="Open Sans Bold"/>
                <a:cs typeface="Open Sans Bold"/>
                <a:sym typeface="Open Sans Bold"/>
              </a:rPr>
              <a:t>REAL-WORLD TESTING &amp; EVALUATION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3791492" y="-1579007"/>
            <a:ext cx="17642855" cy="7248273"/>
          </a:xfrm>
          <a:custGeom>
            <a:avLst/>
            <a:gdLst/>
            <a:ahLst/>
            <a:cxnLst/>
            <a:rect l="l" t="t" r="r" b="b"/>
            <a:pathLst>
              <a:path w="17642855" h="7248273">
                <a:moveTo>
                  <a:pt x="17642855" y="7248273"/>
                </a:moveTo>
                <a:lnTo>
                  <a:pt x="0" y="7248273"/>
                </a:lnTo>
                <a:lnTo>
                  <a:pt x="0" y="0"/>
                </a:lnTo>
                <a:lnTo>
                  <a:pt x="17642855" y="0"/>
                </a:lnTo>
                <a:lnTo>
                  <a:pt x="17642855" y="7248273"/>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599059" y="2695567"/>
            <a:ext cx="5221993" cy="5392633"/>
            <a:chOff x="0" y="0"/>
            <a:chExt cx="13652269" cy="14098386"/>
          </a:xfrm>
        </p:grpSpPr>
        <p:sp>
          <p:nvSpPr>
            <p:cNvPr id="4" name="Freeform 4"/>
            <p:cNvSpPr/>
            <p:nvPr/>
          </p:nvSpPr>
          <p:spPr>
            <a:xfrm>
              <a:off x="0" y="0"/>
              <a:ext cx="13652269" cy="14098386"/>
            </a:xfrm>
            <a:custGeom>
              <a:avLst/>
              <a:gdLst/>
              <a:ahLst/>
              <a:cxnLst/>
              <a:rect l="l" t="t" r="r" b="b"/>
              <a:pathLst>
                <a:path w="13652269" h="14098386">
                  <a:moveTo>
                    <a:pt x="6826135" y="0"/>
                  </a:moveTo>
                  <a:cubicBezTo>
                    <a:pt x="3056165" y="0"/>
                    <a:pt x="0" y="3156031"/>
                    <a:pt x="0" y="7049193"/>
                  </a:cubicBezTo>
                  <a:cubicBezTo>
                    <a:pt x="0" y="10942355"/>
                    <a:pt x="3056165" y="14098386"/>
                    <a:pt x="6826135" y="14098386"/>
                  </a:cubicBezTo>
                  <a:cubicBezTo>
                    <a:pt x="10596104" y="14098386"/>
                    <a:pt x="13652269" y="10942355"/>
                    <a:pt x="13652269" y="7049193"/>
                  </a:cubicBezTo>
                  <a:cubicBezTo>
                    <a:pt x="13652269" y="3156031"/>
                    <a:pt x="10596104" y="0"/>
                    <a:pt x="6826135" y="0"/>
                  </a:cubicBezTo>
                  <a:close/>
                </a:path>
              </a:pathLst>
            </a:custGeom>
            <a:blipFill>
              <a:blip r:embed="rId4"/>
              <a:stretch>
                <a:fillRect l="-1633" r="-1633"/>
              </a:stretch>
            </a:blipFill>
          </p:spPr>
        </p:sp>
      </p:grpSp>
      <p:sp>
        <p:nvSpPr>
          <p:cNvPr id="5" name="TextBox 5"/>
          <p:cNvSpPr txBox="1"/>
          <p:nvPr/>
        </p:nvSpPr>
        <p:spPr>
          <a:xfrm>
            <a:off x="523227" y="2600317"/>
            <a:ext cx="9089186" cy="7306725"/>
          </a:xfrm>
          <a:prstGeom prst="rect">
            <a:avLst/>
          </a:prstGeom>
        </p:spPr>
        <p:txBody>
          <a:bodyPr lIns="0" tIns="0" rIns="0" bIns="0" rtlCol="0" anchor="t">
            <a:spAutoFit/>
          </a:bodyPr>
          <a:lstStyle/>
          <a:p>
            <a:pPr algn="just">
              <a:lnSpc>
                <a:spcPts val="4017"/>
              </a:lnSpc>
            </a:pPr>
            <a:r>
              <a:rPr lang="en-US" sz="2592" spc="-142">
                <a:solidFill>
                  <a:srgbClr val="FFFFFF"/>
                </a:solidFill>
                <a:latin typeface="Open Sans"/>
                <a:ea typeface="Open Sans"/>
                <a:cs typeface="Open Sans"/>
                <a:sym typeface="Open Sans"/>
              </a:rPr>
              <a:t>Our project was submitted for funding and support to the </a:t>
            </a:r>
            <a:r>
              <a:rPr lang="en-US" sz="2592" b="1" spc="-142">
                <a:solidFill>
                  <a:srgbClr val="FFFFFF"/>
                </a:solidFill>
                <a:latin typeface="Open Sans Bold"/>
                <a:ea typeface="Open Sans Bold"/>
                <a:cs typeface="Open Sans Bold"/>
                <a:sym typeface="Open Sans Bold"/>
              </a:rPr>
              <a:t>Academy of Scientific Research and Technology (ASRT) </a:t>
            </a:r>
            <a:r>
              <a:rPr lang="en-US" sz="2592" spc="-142">
                <a:solidFill>
                  <a:srgbClr val="FFFFFF"/>
                </a:solidFill>
                <a:latin typeface="Open Sans"/>
                <a:ea typeface="Open Sans"/>
                <a:cs typeface="Open Sans"/>
                <a:sym typeface="Open Sans"/>
              </a:rPr>
              <a:t>under Individual Projects category</a:t>
            </a:r>
          </a:p>
          <a:p>
            <a:pPr algn="just">
              <a:lnSpc>
                <a:spcPts val="4172"/>
              </a:lnSpc>
            </a:pPr>
            <a:r>
              <a:rPr lang="en-US" sz="2692" spc="-148">
                <a:solidFill>
                  <a:srgbClr val="FFFFFF"/>
                </a:solidFill>
                <a:latin typeface="Open Sans"/>
                <a:ea typeface="Open Sans"/>
                <a:cs typeface="Open Sans"/>
                <a:sym typeface="Open Sans"/>
              </a:rPr>
              <a:t>A program directed toward final-year students.</a:t>
            </a:r>
          </a:p>
          <a:p>
            <a:pPr algn="just">
              <a:lnSpc>
                <a:spcPts val="4172"/>
              </a:lnSpc>
            </a:pPr>
            <a:endParaRPr lang="en-US" sz="2692" spc="-148">
              <a:solidFill>
                <a:srgbClr val="FFFFFF"/>
              </a:solidFill>
              <a:latin typeface="Open Sans"/>
              <a:ea typeface="Open Sans"/>
              <a:cs typeface="Open Sans"/>
              <a:sym typeface="Open Sans"/>
            </a:endParaRPr>
          </a:p>
          <a:p>
            <a:pPr algn="just">
              <a:lnSpc>
                <a:spcPts val="4172"/>
              </a:lnSpc>
            </a:pPr>
            <a:r>
              <a:rPr lang="en-US" sz="2692">
                <a:solidFill>
                  <a:srgbClr val="FFFFFF"/>
                </a:solidFill>
                <a:latin typeface="Open Sans"/>
                <a:ea typeface="Open Sans"/>
                <a:cs typeface="Open Sans"/>
                <a:sym typeface="Open Sans"/>
              </a:rPr>
              <a:t>Through this funding, we aim to:</a:t>
            </a:r>
          </a:p>
          <a:p>
            <a:pPr marL="581205" lvl="1" indent="-290603" algn="just">
              <a:lnSpc>
                <a:spcPts val="4172"/>
              </a:lnSpc>
              <a:buFont typeface="Arial"/>
              <a:buChar char="•"/>
            </a:pPr>
            <a:r>
              <a:rPr lang="en-US" sz="2692" spc="-148">
                <a:solidFill>
                  <a:srgbClr val="FFFFFF"/>
                </a:solidFill>
                <a:latin typeface="Open Sans"/>
                <a:ea typeface="Open Sans"/>
                <a:cs typeface="Open Sans"/>
                <a:sym typeface="Open Sans"/>
              </a:rPr>
              <a:t>Enhance our prototype development using advanced components and computing units.</a:t>
            </a:r>
          </a:p>
          <a:p>
            <a:pPr marL="559616" lvl="1" indent="-279808" algn="just">
              <a:lnSpc>
                <a:spcPts val="4017"/>
              </a:lnSpc>
              <a:buFont typeface="Arial"/>
              <a:buChar char="•"/>
            </a:pPr>
            <a:r>
              <a:rPr lang="en-US" sz="2592" spc="-142">
                <a:solidFill>
                  <a:srgbClr val="FFFFFF"/>
                </a:solidFill>
                <a:latin typeface="Open Sans"/>
                <a:ea typeface="Open Sans"/>
                <a:cs typeface="Open Sans"/>
                <a:sym typeface="Open Sans"/>
              </a:rPr>
              <a:t>Support local innovation in the field of intelligent transportation and autonomous systems.</a:t>
            </a:r>
          </a:p>
          <a:p>
            <a:pPr marL="581205" lvl="1" indent="-290603" algn="just">
              <a:lnSpc>
                <a:spcPts val="4172"/>
              </a:lnSpc>
              <a:buFont typeface="Arial"/>
              <a:buChar char="•"/>
            </a:pPr>
            <a:r>
              <a:rPr lang="en-US" sz="2692" spc="-148">
                <a:solidFill>
                  <a:srgbClr val="FFFFFF"/>
                </a:solidFill>
                <a:latin typeface="Open Sans"/>
                <a:ea typeface="Open Sans"/>
                <a:cs typeface="Open Sans"/>
                <a:sym typeface="Open Sans"/>
              </a:rPr>
              <a:t>Translate our research into a real, scalable product that can improve road safety and driver assistance technologies.</a:t>
            </a:r>
          </a:p>
          <a:p>
            <a:pPr algn="just">
              <a:lnSpc>
                <a:spcPts val="4544"/>
              </a:lnSpc>
            </a:pPr>
            <a:endParaRPr lang="en-US" sz="2692" spc="-148">
              <a:solidFill>
                <a:srgbClr val="FFFFFF"/>
              </a:solidFill>
              <a:latin typeface="Open Sans"/>
              <a:ea typeface="Open Sans"/>
              <a:cs typeface="Open Sans"/>
              <a:sym typeface="Open Sans"/>
            </a:endParaRPr>
          </a:p>
          <a:p>
            <a:pPr algn="just">
              <a:lnSpc>
                <a:spcPts val="4544"/>
              </a:lnSpc>
            </a:pPr>
            <a:endParaRPr lang="en-US" sz="2692" spc="-148">
              <a:solidFill>
                <a:srgbClr val="FFFFFF"/>
              </a:solidFill>
              <a:latin typeface="Open Sans"/>
              <a:ea typeface="Open Sans"/>
              <a:cs typeface="Open Sans"/>
              <a:sym typeface="Open Sans"/>
            </a:endParaRPr>
          </a:p>
        </p:txBody>
      </p:sp>
      <p:sp>
        <p:nvSpPr>
          <p:cNvPr id="6" name="TextBox 6"/>
          <p:cNvSpPr txBox="1"/>
          <p:nvPr/>
        </p:nvSpPr>
        <p:spPr>
          <a:xfrm>
            <a:off x="523227" y="1350566"/>
            <a:ext cx="10972237" cy="694563"/>
          </a:xfrm>
          <a:prstGeom prst="rect">
            <a:avLst/>
          </a:prstGeom>
        </p:spPr>
        <p:txBody>
          <a:bodyPr lIns="0" tIns="0" rIns="0" bIns="0" rtlCol="0" anchor="t">
            <a:spAutoFit/>
          </a:bodyPr>
          <a:lstStyle/>
          <a:p>
            <a:pPr marL="0" lvl="0" indent="0" algn="just">
              <a:lnSpc>
                <a:spcPts val="5220"/>
              </a:lnSpc>
              <a:spcBef>
                <a:spcPct val="0"/>
              </a:spcBef>
            </a:pPr>
            <a:r>
              <a:rPr lang="en-US" sz="5220" b="1" u="none" strike="noStrike" spc="-5">
                <a:solidFill>
                  <a:srgbClr val="FFFFFF"/>
                </a:solidFill>
                <a:latin typeface="Open Sans Bold"/>
                <a:ea typeface="Open Sans Bold"/>
                <a:cs typeface="Open Sans Bold"/>
                <a:sym typeface="Open Sans Bold"/>
              </a:rPr>
              <a:t>GRADUATION PROJECT FUNDING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a:off x="15303520" y="-1803843"/>
            <a:ext cx="5968959" cy="5665085"/>
          </a:xfrm>
          <a:custGeom>
            <a:avLst/>
            <a:gdLst/>
            <a:ahLst/>
            <a:cxnLst/>
            <a:rect l="l" t="t" r="r" b="b"/>
            <a:pathLst>
              <a:path w="5968959" h="5665085">
                <a:moveTo>
                  <a:pt x="0" y="0"/>
                </a:moveTo>
                <a:lnTo>
                  <a:pt x="5968960" y="0"/>
                </a:lnTo>
                <a:lnTo>
                  <a:pt x="5968960" y="5665086"/>
                </a:lnTo>
                <a:lnTo>
                  <a:pt x="0" y="56650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6501988">
            <a:off x="-2516453" y="6596397"/>
            <a:ext cx="5968959" cy="5665085"/>
          </a:xfrm>
          <a:custGeom>
            <a:avLst/>
            <a:gdLst/>
            <a:ahLst/>
            <a:cxnLst/>
            <a:rect l="l" t="t" r="r" b="b"/>
            <a:pathLst>
              <a:path w="5968959" h="5665085">
                <a:moveTo>
                  <a:pt x="0" y="0"/>
                </a:moveTo>
                <a:lnTo>
                  <a:pt x="5968960" y="0"/>
                </a:lnTo>
                <a:lnTo>
                  <a:pt x="5968960" y="5665085"/>
                </a:lnTo>
                <a:lnTo>
                  <a:pt x="0" y="56650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4638116" y="1969322"/>
            <a:ext cx="9224687" cy="7459618"/>
            <a:chOff x="0" y="0"/>
            <a:chExt cx="1005122" cy="812800"/>
          </a:xfrm>
        </p:grpSpPr>
        <p:sp>
          <p:nvSpPr>
            <p:cNvPr id="5" name="Freeform 5"/>
            <p:cNvSpPr/>
            <p:nvPr/>
          </p:nvSpPr>
          <p:spPr>
            <a:xfrm>
              <a:off x="0" y="0"/>
              <a:ext cx="1005122" cy="812800"/>
            </a:xfrm>
            <a:custGeom>
              <a:avLst/>
              <a:gdLst/>
              <a:ahLst/>
              <a:cxnLst/>
              <a:rect l="l" t="t" r="r" b="b"/>
              <a:pathLst>
                <a:path w="1005122" h="812800">
                  <a:moveTo>
                    <a:pt x="0" y="0"/>
                  </a:moveTo>
                  <a:lnTo>
                    <a:pt x="1005122" y="0"/>
                  </a:lnTo>
                  <a:lnTo>
                    <a:pt x="1005122" y="812800"/>
                  </a:lnTo>
                  <a:lnTo>
                    <a:pt x="0" y="812800"/>
                  </a:lnTo>
                  <a:close/>
                </a:path>
              </a:pathLst>
            </a:custGeom>
            <a:blipFill>
              <a:blip r:embed="rId4"/>
              <a:stretch>
                <a:fillRect l="-664" r="-664"/>
              </a:stretch>
            </a:blipFill>
          </p:spPr>
        </p:sp>
      </p:grpSp>
      <p:sp>
        <p:nvSpPr>
          <p:cNvPr id="6" name="TextBox 6"/>
          <p:cNvSpPr txBox="1"/>
          <p:nvPr/>
        </p:nvSpPr>
        <p:spPr>
          <a:xfrm>
            <a:off x="1028700" y="1051163"/>
            <a:ext cx="3780056" cy="707063"/>
          </a:xfrm>
          <a:prstGeom prst="rect">
            <a:avLst/>
          </a:prstGeom>
        </p:spPr>
        <p:txBody>
          <a:bodyPr lIns="0" tIns="0" rIns="0" bIns="0" rtlCol="0" anchor="t">
            <a:spAutoFit/>
          </a:bodyPr>
          <a:lstStyle/>
          <a:p>
            <a:pPr algn="l">
              <a:lnSpc>
                <a:spcPts val="5302"/>
              </a:lnSpc>
              <a:spcBef>
                <a:spcPct val="0"/>
              </a:spcBef>
            </a:pPr>
            <a:r>
              <a:rPr lang="en-US" sz="5302" b="1" spc="-5">
                <a:solidFill>
                  <a:srgbClr val="FFFFFF"/>
                </a:solidFill>
                <a:latin typeface="Open Sans Bold"/>
                <a:ea typeface="Open Sans Bold"/>
                <a:cs typeface="Open Sans Bold"/>
                <a:sym typeface="Open Sans Bold"/>
              </a:rPr>
              <a:t>TIME PLAN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TextBox 2"/>
          <p:cNvSpPr txBox="1"/>
          <p:nvPr/>
        </p:nvSpPr>
        <p:spPr>
          <a:xfrm>
            <a:off x="1482720" y="1854566"/>
            <a:ext cx="2566808" cy="695805"/>
          </a:xfrm>
          <a:prstGeom prst="rect">
            <a:avLst/>
          </a:prstGeom>
        </p:spPr>
        <p:txBody>
          <a:bodyPr lIns="0" tIns="0" rIns="0" bIns="0" rtlCol="0" anchor="t">
            <a:spAutoFit/>
          </a:bodyPr>
          <a:lstStyle/>
          <a:p>
            <a:pPr algn="l">
              <a:lnSpc>
                <a:spcPts val="5268"/>
              </a:lnSpc>
              <a:spcBef>
                <a:spcPct val="0"/>
              </a:spcBef>
            </a:pPr>
            <a:r>
              <a:rPr lang="en-US" sz="5268" b="1" spc="-5">
                <a:solidFill>
                  <a:srgbClr val="FFFFFF"/>
                </a:solidFill>
                <a:latin typeface="Open Sans Bold"/>
                <a:ea typeface="Open Sans Bold"/>
                <a:cs typeface="Open Sans Bold"/>
                <a:sym typeface="Open Sans Bold"/>
              </a:rPr>
              <a:t>TOOLS: </a:t>
            </a:r>
          </a:p>
        </p:txBody>
      </p:sp>
      <p:sp>
        <p:nvSpPr>
          <p:cNvPr id="3" name="TextBox 3"/>
          <p:cNvSpPr txBox="1"/>
          <p:nvPr/>
        </p:nvSpPr>
        <p:spPr>
          <a:xfrm>
            <a:off x="1028700" y="3017699"/>
            <a:ext cx="16230600" cy="6150487"/>
          </a:xfrm>
          <a:prstGeom prst="rect">
            <a:avLst/>
          </a:prstGeom>
        </p:spPr>
        <p:txBody>
          <a:bodyPr lIns="0" tIns="0" rIns="0" bIns="0" rtlCol="0" anchor="t">
            <a:spAutoFit/>
          </a:bodyPr>
          <a:lstStyle/>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Programming Languages: Python (TensorFlow, PyTorch, OpenCV),C++(ROS integration)</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Libraries: NumPy, Matplotlib, Scikit-learn, Pandas</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AI Frameworks: TensorFlow, PyTorch, Keras</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Simulation Platforms: Highway and Donkycar Simulator</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Computer Vision: OpenCV</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Data Visualization: Matplotlib, Seaborn</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Development Environment: Jupyter Notebooks, PyCharm, or VSCode</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Version Control: Git/GitHub</a:t>
            </a:r>
          </a:p>
          <a:p>
            <a:pPr marL="659019" lvl="1" indent="-329509" algn="just">
              <a:lnSpc>
                <a:spcPts val="4883"/>
              </a:lnSpc>
              <a:buFont typeface="Arial"/>
              <a:buChar char="•"/>
            </a:pPr>
            <a:r>
              <a:rPr lang="en-US" sz="3052" u="none" strike="noStrike">
                <a:solidFill>
                  <a:srgbClr val="FFFFFF"/>
                </a:solidFill>
                <a:latin typeface="Open Sans"/>
                <a:ea typeface="Open Sans"/>
                <a:cs typeface="Open Sans"/>
                <a:sym typeface="Open Sans"/>
              </a:rPr>
              <a:t>Hardware components: Raspberry Pi 4, Arduino/ESP32, Camera Module, Ultrasonic Sensors, IR Sensors, DC Motors with L298N Driver</a:t>
            </a:r>
          </a:p>
        </p:txBody>
      </p:sp>
      <p:sp>
        <p:nvSpPr>
          <p:cNvPr id="4" name="Freeform 4"/>
          <p:cNvSpPr/>
          <p:nvPr/>
        </p:nvSpPr>
        <p:spPr>
          <a:xfrm flipH="1" flipV="1">
            <a:off x="3863179" y="-799976"/>
            <a:ext cx="17642855" cy="7248273"/>
          </a:xfrm>
          <a:custGeom>
            <a:avLst/>
            <a:gdLst/>
            <a:ahLst/>
            <a:cxnLst/>
            <a:rect l="l" t="t" r="r" b="b"/>
            <a:pathLst>
              <a:path w="17642855" h="7248273">
                <a:moveTo>
                  <a:pt x="17642855" y="7248273"/>
                </a:moveTo>
                <a:lnTo>
                  <a:pt x="0" y="7248273"/>
                </a:lnTo>
                <a:lnTo>
                  <a:pt x="0" y="0"/>
                </a:lnTo>
                <a:lnTo>
                  <a:pt x="17642855" y="0"/>
                </a:lnTo>
                <a:lnTo>
                  <a:pt x="17642855" y="7248273"/>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2992998" y="-643961"/>
            <a:ext cx="17642855" cy="7248273"/>
          </a:xfrm>
          <a:custGeom>
            <a:avLst/>
            <a:gdLst/>
            <a:ahLst/>
            <a:cxnLst/>
            <a:rect l="l" t="t" r="r" b="b"/>
            <a:pathLst>
              <a:path w="17642855" h="7248273">
                <a:moveTo>
                  <a:pt x="17642855" y="7248272"/>
                </a:moveTo>
                <a:lnTo>
                  <a:pt x="0" y="7248272"/>
                </a:lnTo>
                <a:lnTo>
                  <a:pt x="0" y="0"/>
                </a:lnTo>
                <a:lnTo>
                  <a:pt x="17642855" y="0"/>
                </a:lnTo>
                <a:lnTo>
                  <a:pt x="17642855" y="724827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545737" y="926266"/>
            <a:ext cx="10972237" cy="694563"/>
          </a:xfrm>
          <a:prstGeom prst="rect">
            <a:avLst/>
          </a:prstGeom>
        </p:spPr>
        <p:txBody>
          <a:bodyPr lIns="0" tIns="0" rIns="0" bIns="0" rtlCol="0" anchor="t">
            <a:spAutoFit/>
          </a:bodyPr>
          <a:lstStyle/>
          <a:p>
            <a:pPr marL="0" lvl="0" indent="0" algn="just">
              <a:lnSpc>
                <a:spcPts val="5220"/>
              </a:lnSpc>
              <a:spcBef>
                <a:spcPct val="0"/>
              </a:spcBef>
            </a:pPr>
            <a:r>
              <a:rPr lang="en-US" sz="5220" b="1" spc="-5">
                <a:solidFill>
                  <a:srgbClr val="FFFFFF"/>
                </a:solidFill>
                <a:latin typeface="Open Sans Bold"/>
                <a:ea typeface="Open Sans Bold"/>
                <a:cs typeface="Open Sans Bold"/>
                <a:sym typeface="Open Sans Bold"/>
              </a:rPr>
              <a:t>RESOURCES</a:t>
            </a:r>
          </a:p>
        </p:txBody>
      </p:sp>
      <p:sp>
        <p:nvSpPr>
          <p:cNvPr id="4" name="TextBox 4"/>
          <p:cNvSpPr txBox="1"/>
          <p:nvPr/>
        </p:nvSpPr>
        <p:spPr>
          <a:xfrm>
            <a:off x="545737" y="1887466"/>
            <a:ext cx="16931717" cy="8151462"/>
          </a:xfrm>
          <a:prstGeom prst="rect">
            <a:avLst/>
          </a:prstGeom>
        </p:spPr>
        <p:txBody>
          <a:bodyPr lIns="0" tIns="0" rIns="0" bIns="0" rtlCol="0" anchor="t">
            <a:spAutoFit/>
          </a:bodyPr>
          <a:lstStyle/>
          <a:p>
            <a:pPr algn="just">
              <a:lnSpc>
                <a:spcPts val="4321"/>
              </a:lnSpc>
            </a:pP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[1] M. Boj</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arski et al. End-to-End Learning for Self-Driving Cars. arXiv:1604, 2016.</a:t>
            </a:r>
          </a:p>
          <a:p>
            <a:pPr algn="just">
              <a:lnSpc>
                <a:spcPts val="4321"/>
              </a:lnSpc>
            </a:pP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[2] J. Huang, V. Rathod, C. Sun, M. Zhu, A.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Korattikara</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A.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Fathi</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I. Fischer, Z.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Wojna</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Y. Song, S.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Guadarrama</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et al. Speed/accuracy trade-offs for modern convolutional object detectors. In Computer Vision and Pattern Recognition (CVPR), 2017.</a:t>
            </a:r>
          </a:p>
          <a:p>
            <a:pPr algn="just">
              <a:lnSpc>
                <a:spcPts val="4321"/>
              </a:lnSpc>
            </a:pP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[3] M.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Rastegari</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V. Ordonez, J. Redmon, and A. Farhadi. XNOR-net: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Imagenet</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classification using binary convolutional neural networks. In European Conference on Computer Vision (ECCV), 2016.</a:t>
            </a:r>
          </a:p>
          <a:p>
            <a:pPr algn="just">
              <a:lnSpc>
                <a:spcPts val="4528"/>
              </a:lnSpc>
            </a:pPr>
            <a:r>
              <a:rPr lang="en-US" sz="2187" u="sng" spc="-120"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[4] C. Stiller, J. </a:t>
            </a:r>
            <a:r>
              <a:rPr lang="en-US" sz="2187" u="sng" spc="-120"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Hipp</a:t>
            </a:r>
            <a:r>
              <a:rPr lang="en-US" sz="2187" u="sng" spc="-120"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C. </a:t>
            </a:r>
            <a:r>
              <a:rPr lang="en-US" sz="2187" u="sng" spc="-120"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Rössig</a:t>
            </a:r>
            <a:r>
              <a:rPr lang="en-US" sz="2187" u="sng" spc="-120"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&amp; A. Ewald, “ </a:t>
            </a:r>
            <a:r>
              <a:rPr lang="en-US" sz="2187" u="sng" spc="-120"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Multisensor</a:t>
            </a:r>
            <a:r>
              <a:rPr lang="en-US" sz="2187" u="sng" spc="-120"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obstacle detection and tracking”, Image and Vision Computing, vol.18 (5), pp.389–396, 2000.</a:t>
            </a:r>
          </a:p>
          <a:p>
            <a:pPr algn="just">
              <a:lnSpc>
                <a:spcPts val="4321"/>
              </a:lnSpc>
            </a:pPr>
            <a:r>
              <a:rPr lang="en-US" sz="2087" u="sng" spc="-114" dirty="0">
                <a:solidFill>
                  <a:schemeClr val="bg1"/>
                </a:solidFill>
                <a:latin typeface="Open Sans"/>
                <a:ea typeface="Open Sans"/>
                <a:cs typeface="Open Sans"/>
                <a:sym typeface="Open Sans"/>
              </a:rPr>
              <a:t>[5] Redmon, J.; </a:t>
            </a:r>
            <a:r>
              <a:rPr lang="en-US" sz="2087" u="sng" spc="-114" dirty="0" err="1">
                <a:solidFill>
                  <a:schemeClr val="bg1"/>
                </a:solidFill>
                <a:latin typeface="Open Sans"/>
                <a:ea typeface="Open Sans"/>
                <a:cs typeface="Open Sans"/>
                <a:sym typeface="Open Sans"/>
              </a:rPr>
              <a:t>Divvala</a:t>
            </a:r>
            <a:r>
              <a:rPr lang="en-US" sz="2087" u="sng" spc="-114" dirty="0">
                <a:solidFill>
                  <a:schemeClr val="bg1"/>
                </a:solidFill>
                <a:latin typeface="Open Sans"/>
                <a:ea typeface="Open Sans"/>
                <a:cs typeface="Open Sans"/>
                <a:sym typeface="Open Sans"/>
              </a:rPr>
              <a:t>, S.; </a:t>
            </a:r>
            <a:r>
              <a:rPr lang="en-US" sz="2087" u="sng" spc="-114" dirty="0" err="1">
                <a:solidFill>
                  <a:schemeClr val="bg1"/>
                </a:solidFill>
                <a:latin typeface="Open Sans"/>
                <a:ea typeface="Open Sans"/>
                <a:cs typeface="Open Sans"/>
                <a:sym typeface="Open Sans"/>
              </a:rPr>
              <a:t>Girshick</a:t>
            </a:r>
            <a:r>
              <a:rPr lang="en-US" sz="2087" u="sng" spc="-114" dirty="0">
                <a:solidFill>
                  <a:schemeClr val="bg1"/>
                </a:solidFill>
                <a:latin typeface="Open Sans"/>
                <a:ea typeface="Open Sans"/>
                <a:cs typeface="Open Sans"/>
                <a:sym typeface="Open Sans"/>
              </a:rPr>
              <a:t>, R.; Farhadi, A. You only look once: Unified, real-time object detection. In Proceedings of the IEEE Conference on Computer Vision and Pattern Recognition, Anchorage, AK, USA, 23–28 June 2008; pp. 1–8.</a:t>
            </a:r>
          </a:p>
          <a:p>
            <a:pPr algn="just">
              <a:lnSpc>
                <a:spcPts val="4321"/>
              </a:lnSpc>
            </a:pP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[6] K</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Lee and H. Peng, ”Evaluation of automotive forward collision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worning</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and collision avoidance algorithms,” Vehicle System </a:t>
            </a:r>
            <a:r>
              <a:rPr lang="en-US" sz="2087" u="sng" spc="-114" dirty="0" err="1">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Dynamics,vol</a:t>
            </a:r>
            <a:r>
              <a:rPr lang="en-US" sz="2087" u="sng" spc="-114" dirty="0">
                <a:solidFill>
                  <a:schemeClr val="bg1"/>
                </a:solidFill>
                <a:latin typeface="Open Sans"/>
                <a:ea typeface="Open Sans"/>
                <a:cs typeface="Open Sans"/>
                <a:sym typeface="Open Sans"/>
                <a:hlinkClick r:id="rId4" tooltip="https://arxiv.org/pdf/1712.08644">
                  <a:extLst>
                    <a:ext uri="{A12FA001-AC4F-418D-AE19-62706E023703}">
                      <ahyp:hlinkClr xmlns:ahyp="http://schemas.microsoft.com/office/drawing/2018/hyperlinkcolor" val="tx"/>
                    </a:ext>
                  </a:extLst>
                </a:hlinkClick>
              </a:rPr>
              <a:t>. 43(10), pp. 735-751, Feb. 2007.</a:t>
            </a:r>
          </a:p>
          <a:p>
            <a:pPr algn="just">
              <a:lnSpc>
                <a:spcPts val="4321"/>
              </a:lnSpc>
            </a:pPr>
            <a:r>
              <a:rPr lang="en-US" sz="2087" u="sng" spc="-114" dirty="0">
                <a:solidFill>
                  <a:schemeClr val="bg1"/>
                </a:solidFill>
                <a:latin typeface="Open Sans"/>
                <a:ea typeface="Open Sans"/>
                <a:cs typeface="Open Sans"/>
                <a:sym typeface="Open Sans"/>
              </a:rPr>
              <a:t>[7] M. Bojarski, D. D. Testa, D. </a:t>
            </a:r>
            <a:r>
              <a:rPr lang="en-US" sz="2087" u="sng" spc="-114" dirty="0" err="1">
                <a:solidFill>
                  <a:schemeClr val="bg1"/>
                </a:solidFill>
                <a:latin typeface="Open Sans"/>
                <a:ea typeface="Open Sans"/>
                <a:cs typeface="Open Sans"/>
                <a:sym typeface="Open Sans"/>
              </a:rPr>
              <a:t>Dworakowski</a:t>
            </a:r>
            <a:r>
              <a:rPr lang="en-US" sz="2087" u="sng" spc="-114" dirty="0">
                <a:solidFill>
                  <a:schemeClr val="bg1"/>
                </a:solidFill>
                <a:latin typeface="Open Sans"/>
                <a:ea typeface="Open Sans"/>
                <a:cs typeface="Open Sans"/>
                <a:sym typeface="Open Sans"/>
              </a:rPr>
              <a:t>, B. </a:t>
            </a:r>
            <a:r>
              <a:rPr lang="en-US" sz="2087" u="sng" spc="-114" dirty="0" err="1">
                <a:solidFill>
                  <a:schemeClr val="bg1"/>
                </a:solidFill>
                <a:latin typeface="Open Sans"/>
                <a:ea typeface="Open Sans"/>
                <a:cs typeface="Open Sans"/>
                <a:sym typeface="Open Sans"/>
              </a:rPr>
              <a:t>Firner</a:t>
            </a:r>
            <a:r>
              <a:rPr lang="en-US" sz="2087" u="sng" spc="-114" dirty="0">
                <a:solidFill>
                  <a:schemeClr val="bg1"/>
                </a:solidFill>
                <a:latin typeface="Open Sans"/>
                <a:ea typeface="Open Sans"/>
                <a:cs typeface="Open Sans"/>
                <a:sym typeface="Open Sans"/>
              </a:rPr>
              <a:t>, B. </a:t>
            </a:r>
            <a:r>
              <a:rPr lang="en-US" sz="2087" u="sng" spc="-114" dirty="0" err="1">
                <a:solidFill>
                  <a:schemeClr val="bg1"/>
                </a:solidFill>
                <a:latin typeface="Open Sans"/>
                <a:ea typeface="Open Sans"/>
                <a:cs typeface="Open Sans"/>
                <a:sym typeface="Open Sans"/>
              </a:rPr>
              <a:t>Flepp</a:t>
            </a:r>
            <a:r>
              <a:rPr lang="en-US" sz="2087" u="sng" spc="-114" dirty="0">
                <a:solidFill>
                  <a:schemeClr val="bg1"/>
                </a:solidFill>
                <a:latin typeface="Open Sans"/>
                <a:ea typeface="Open Sans"/>
                <a:cs typeface="Open Sans"/>
                <a:sym typeface="Open Sans"/>
              </a:rPr>
              <a:t>, P. Goyal, L. D. </a:t>
            </a:r>
            <a:r>
              <a:rPr lang="en-US" sz="2087" u="sng" spc="-114" dirty="0" err="1">
                <a:solidFill>
                  <a:schemeClr val="bg1"/>
                </a:solidFill>
                <a:latin typeface="Open Sans"/>
                <a:ea typeface="Open Sans"/>
                <a:cs typeface="Open Sans"/>
                <a:sym typeface="Open Sans"/>
              </a:rPr>
              <a:t>Jackel</a:t>
            </a:r>
            <a:r>
              <a:rPr lang="en-US" sz="2087" u="sng" spc="-114" dirty="0">
                <a:solidFill>
                  <a:schemeClr val="bg1"/>
                </a:solidFill>
                <a:latin typeface="Open Sans"/>
                <a:ea typeface="Open Sans"/>
                <a:cs typeface="Open Sans"/>
                <a:sym typeface="Open Sans"/>
              </a:rPr>
              <a:t>, M. </a:t>
            </a:r>
            <a:r>
              <a:rPr lang="en-US" sz="2087" u="sng" spc="-114" dirty="0" err="1">
                <a:solidFill>
                  <a:schemeClr val="bg1"/>
                </a:solidFill>
                <a:latin typeface="Open Sans"/>
                <a:ea typeface="Open Sans"/>
                <a:cs typeface="Open Sans"/>
                <a:sym typeface="Open Sans"/>
              </a:rPr>
              <a:t>Monfort</a:t>
            </a:r>
            <a:r>
              <a:rPr lang="en-US" sz="2087" u="sng" spc="-114" dirty="0">
                <a:solidFill>
                  <a:schemeClr val="bg1"/>
                </a:solidFill>
                <a:latin typeface="Open Sans"/>
                <a:ea typeface="Open Sans"/>
                <a:cs typeface="Open Sans"/>
                <a:sym typeface="Open Sans"/>
              </a:rPr>
              <a:t>, U. Muller, J. Zhang, X. Zhang, J. Zhao and K. </a:t>
            </a:r>
            <a:r>
              <a:rPr lang="en-US" sz="2087" u="sng" spc="-114" dirty="0" err="1">
                <a:solidFill>
                  <a:schemeClr val="bg1"/>
                </a:solidFill>
                <a:latin typeface="Open Sans"/>
                <a:ea typeface="Open Sans"/>
                <a:cs typeface="Open Sans"/>
                <a:sym typeface="Open Sans"/>
              </a:rPr>
              <a:t>Zieba</a:t>
            </a:r>
            <a:r>
              <a:rPr lang="en-US" sz="2087" u="sng" spc="-114" dirty="0">
                <a:solidFill>
                  <a:schemeClr val="bg1"/>
                </a:solidFill>
                <a:latin typeface="Open Sans"/>
                <a:ea typeface="Open Sans"/>
                <a:cs typeface="Open Sans"/>
                <a:sym typeface="Open Sans"/>
              </a:rPr>
              <a:t>, ”End to end learning for self driving cars,” </a:t>
            </a:r>
            <a:r>
              <a:rPr lang="en-US" sz="2087" u="sng" spc="-114" dirty="0" err="1">
                <a:solidFill>
                  <a:schemeClr val="bg1"/>
                </a:solidFill>
                <a:latin typeface="Open Sans"/>
                <a:ea typeface="Open Sans"/>
                <a:cs typeface="Open Sans"/>
                <a:sym typeface="Open Sans"/>
              </a:rPr>
              <a:t>arXiv</a:t>
            </a:r>
            <a:r>
              <a:rPr lang="en-US" sz="2087" u="sng" spc="-114" dirty="0">
                <a:solidFill>
                  <a:schemeClr val="bg1"/>
                </a:solidFill>
                <a:latin typeface="Open Sans"/>
                <a:ea typeface="Open Sans"/>
                <a:cs typeface="Open Sans"/>
                <a:sym typeface="Open Sans"/>
              </a:rPr>
              <a:t> preprint, arXiv:1604.0731, Apr. 2016.</a:t>
            </a:r>
          </a:p>
          <a:p>
            <a:pPr algn="just">
              <a:lnSpc>
                <a:spcPts val="4321"/>
              </a:lnSpc>
            </a:pPr>
            <a:r>
              <a:rPr lang="en-US" sz="2087" u="sng" spc="-114" dirty="0">
                <a:solidFill>
                  <a:schemeClr val="bg1"/>
                </a:solidFill>
                <a:latin typeface="Open Sans"/>
                <a:ea typeface="Open Sans"/>
                <a:cs typeface="Open Sans"/>
                <a:sym typeface="Open Sans"/>
              </a:rPr>
              <a:t>[8] C. Chen, A. </a:t>
            </a:r>
            <a:r>
              <a:rPr lang="en-US" sz="2087" u="sng" spc="-114" dirty="0" err="1">
                <a:solidFill>
                  <a:schemeClr val="bg1"/>
                </a:solidFill>
                <a:latin typeface="Open Sans"/>
                <a:ea typeface="Open Sans"/>
                <a:cs typeface="Open Sans"/>
                <a:sym typeface="Open Sans"/>
              </a:rPr>
              <a:t>Seff</a:t>
            </a:r>
            <a:r>
              <a:rPr lang="en-US" sz="2087" u="sng" spc="-114" dirty="0">
                <a:solidFill>
                  <a:schemeClr val="bg1"/>
                </a:solidFill>
                <a:latin typeface="Open Sans"/>
                <a:ea typeface="Open Sans"/>
                <a:cs typeface="Open Sans"/>
                <a:sym typeface="Open Sans"/>
              </a:rPr>
              <a:t>, A. </a:t>
            </a:r>
            <a:r>
              <a:rPr lang="en-US" sz="2087" u="sng" spc="-114" dirty="0" err="1">
                <a:solidFill>
                  <a:schemeClr val="bg1"/>
                </a:solidFill>
                <a:latin typeface="Open Sans"/>
                <a:ea typeface="Open Sans"/>
                <a:cs typeface="Open Sans"/>
                <a:sym typeface="Open Sans"/>
              </a:rPr>
              <a:t>Kornhauser</a:t>
            </a:r>
            <a:r>
              <a:rPr lang="en-US" sz="2087" u="sng" spc="-114" dirty="0">
                <a:solidFill>
                  <a:schemeClr val="bg1"/>
                </a:solidFill>
                <a:latin typeface="Open Sans"/>
                <a:ea typeface="Open Sans"/>
                <a:cs typeface="Open Sans"/>
                <a:sym typeface="Open Sans"/>
              </a:rPr>
              <a:t> and J. Xiao, ”</a:t>
            </a:r>
            <a:r>
              <a:rPr lang="en-US" sz="2087" u="sng" spc="-114" dirty="0" err="1">
                <a:solidFill>
                  <a:schemeClr val="bg1"/>
                </a:solidFill>
                <a:latin typeface="Open Sans"/>
                <a:ea typeface="Open Sans"/>
                <a:cs typeface="Open Sans"/>
                <a:sym typeface="Open Sans"/>
              </a:rPr>
              <a:t>DeepDriving</a:t>
            </a:r>
            <a:r>
              <a:rPr lang="en-US" sz="2087" u="sng" spc="-114" dirty="0">
                <a:solidFill>
                  <a:schemeClr val="bg1"/>
                </a:solidFill>
                <a:latin typeface="Open Sans"/>
                <a:ea typeface="Open Sans"/>
                <a:cs typeface="Open Sans"/>
                <a:sym typeface="Open Sans"/>
              </a:rPr>
              <a:t>: learning affordance for direct perception in autonomous driving,” Proceedings of the IEEE International Conference on Computer Vision(ICCV), pp.2722-2730, 2015.</a:t>
            </a:r>
          </a:p>
          <a:p>
            <a:pPr algn="just">
              <a:lnSpc>
                <a:spcPts val="3509"/>
              </a:lnSpc>
            </a:pPr>
            <a:endParaRPr lang="en-US" sz="2087" u="sng" spc="-114" dirty="0">
              <a:solidFill>
                <a:schemeClr val="bg1"/>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771980" y="-1465604"/>
            <a:ext cx="20841179" cy="8562251"/>
          </a:xfrm>
          <a:custGeom>
            <a:avLst/>
            <a:gdLst/>
            <a:ahLst/>
            <a:cxnLst/>
            <a:rect l="l" t="t" r="r" b="b"/>
            <a:pathLst>
              <a:path w="20841179" h="8562251">
                <a:moveTo>
                  <a:pt x="20841179" y="8562251"/>
                </a:moveTo>
                <a:lnTo>
                  <a:pt x="0" y="8562251"/>
                </a:lnTo>
                <a:lnTo>
                  <a:pt x="0" y="0"/>
                </a:lnTo>
                <a:lnTo>
                  <a:pt x="20841179" y="0"/>
                </a:lnTo>
                <a:lnTo>
                  <a:pt x="20841179" y="8562251"/>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9144000" cy="10287000"/>
            <a:chOff x="0" y="0"/>
            <a:chExt cx="2042794" cy="2298144"/>
          </a:xfrm>
        </p:grpSpPr>
        <p:sp>
          <p:nvSpPr>
            <p:cNvPr id="4" name="Freeform 4"/>
            <p:cNvSpPr/>
            <p:nvPr/>
          </p:nvSpPr>
          <p:spPr>
            <a:xfrm rot="-18000">
              <a:off x="-6002" y="-5332"/>
              <a:ext cx="2054799" cy="2308808"/>
            </a:xfrm>
            <a:custGeom>
              <a:avLst/>
              <a:gdLst/>
              <a:ahLst/>
              <a:cxnLst/>
              <a:rect l="l" t="t" r="r" b="b"/>
              <a:pathLst>
                <a:path w="2054799" h="2308808">
                  <a:moveTo>
                    <a:pt x="12033" y="0"/>
                  </a:moveTo>
                  <a:lnTo>
                    <a:pt x="2054799" y="10696"/>
                  </a:lnTo>
                  <a:lnTo>
                    <a:pt x="2042766" y="2308808"/>
                  </a:lnTo>
                  <a:lnTo>
                    <a:pt x="0" y="2298112"/>
                  </a:lnTo>
                  <a:close/>
                </a:path>
              </a:pathLst>
            </a:custGeom>
            <a:blipFill>
              <a:blip r:embed="rId4"/>
              <a:stretch>
                <a:fillRect l="-17779" t="-15007" r="-11444"/>
              </a:stretch>
            </a:blipFill>
          </p:spPr>
        </p:sp>
      </p:grpSp>
      <p:sp>
        <p:nvSpPr>
          <p:cNvPr id="5" name="TextBox 5"/>
          <p:cNvSpPr txBox="1"/>
          <p:nvPr/>
        </p:nvSpPr>
        <p:spPr>
          <a:xfrm>
            <a:off x="9534033" y="5574545"/>
            <a:ext cx="8115300" cy="1351462"/>
          </a:xfrm>
          <a:prstGeom prst="rect">
            <a:avLst/>
          </a:prstGeom>
        </p:spPr>
        <p:txBody>
          <a:bodyPr lIns="0" tIns="0" rIns="0" bIns="0" rtlCol="0" anchor="t">
            <a:spAutoFit/>
          </a:bodyPr>
          <a:lstStyle/>
          <a:p>
            <a:pPr algn="ctr">
              <a:lnSpc>
                <a:spcPts val="10191"/>
              </a:lnSpc>
              <a:spcBef>
                <a:spcPct val="0"/>
              </a:spcBef>
            </a:pPr>
            <a:r>
              <a:rPr lang="en-US" sz="10191" b="1" spc="-10">
                <a:solidFill>
                  <a:srgbClr val="FFFFFF"/>
                </a:solidFill>
                <a:latin typeface="Open Sans Bold"/>
                <a:ea typeface="Open Sans Bold"/>
                <a:cs typeface="Open Sans Bold"/>
                <a:sym typeface="Open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2018</Words>
  <Application>Microsoft Office PowerPoint</Application>
  <PresentationFormat>Custom</PresentationFormat>
  <Paragraphs>154</Paragraphs>
  <Slides>25</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Open Sans Bold</vt:lpstr>
      <vt:lpstr>Calibri</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1</dc:title>
  <cp:lastModifiedBy>Esraa Bassiouny</cp:lastModifiedBy>
  <cp:revision>2</cp:revision>
  <dcterms:created xsi:type="dcterms:W3CDTF">2006-08-16T00:00:00Z</dcterms:created>
  <dcterms:modified xsi:type="dcterms:W3CDTF">2025-11-14T20:23:43Z</dcterms:modified>
  <dc:identifier>DAG4gYEszsM</dc:identifier>
</cp:coreProperties>
</file>